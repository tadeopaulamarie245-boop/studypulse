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8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73" r:id="rId21"/>
    <p:sldId id="274" r:id="rId22"/>
    <p:sldId id="275" r:id="rId23"/>
    <p:sldId id="277" r:id="rId24"/>
    <p:sldId id="276" r:id="rId25"/>
    <p:sldId id="278" r:id="rId26"/>
    <p:sldId id="279" r:id="rId27"/>
    <p:sldId id="282" r:id="rId28"/>
    <p:sldId id="281" r:id="rId29"/>
    <p:sldId id="283" r:id="rId30"/>
    <p:sldId id="284" r:id="rId31"/>
    <p:sldId id="270" r:id="rId32"/>
    <p:sldId id="286" r:id="rId33"/>
    <p:sldId id="285" r:id="rId34"/>
    <p:sldId id="287" r:id="rId35"/>
    <p:sldId id="288" r:id="rId36"/>
    <p:sldId id="289" r:id="rId37"/>
    <p:sldId id="290" r:id="rId38"/>
    <p:sldId id="291" r:id="rId39"/>
    <p:sldId id="293" r:id="rId40"/>
    <p:sldId id="292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3E8E9A-5377-40B1-A554-75F7427A7429}">
          <p14:sldIdLst>
            <p14:sldId id="256"/>
          </p14:sldIdLst>
        </p14:section>
        <p14:section name="INTRODUCTION" id="{A3BB179F-8B6C-49A6-A036-653E77D15AB6}">
          <p14:sldIdLst>
            <p14:sldId id="280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2"/>
            <p14:sldId id="273"/>
            <p14:sldId id="274"/>
            <p14:sldId id="275"/>
            <p14:sldId id="277"/>
            <p14:sldId id="276"/>
            <p14:sldId id="278"/>
            <p14:sldId id="279"/>
            <p14:sldId id="282"/>
            <p14:sldId id="281"/>
            <p14:sldId id="283"/>
            <p14:sldId id="284"/>
            <p14:sldId id="270"/>
            <p14:sldId id="286"/>
            <p14:sldId id="285"/>
            <p14:sldId id="287"/>
            <p14:sldId id="288"/>
            <p14:sldId id="289"/>
            <p14:sldId id="290"/>
            <p14:sldId id="291"/>
            <p14:sldId id="293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SOURCES OF RESEARCH PROBLEM" id="{4FE77A8E-5A06-4101-B422-E13114801003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8D776-660F-41A4-8626-C69CABFC2B09}" v="332" dt="2026-01-21T05:26:39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5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slide" Target="slides/slide6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3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26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1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2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5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0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5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5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3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8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899C3-72DD-4887-DCEC-42D47E53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9A7C3-58CD-A53A-6390-163AD0542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 dirty="0"/>
              <a:t>Basic and Fundamental Concepts of Capstone Project and Research</a:t>
            </a:r>
            <a:endParaRPr lang="en-PH" sz="4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77127-6C64-88CF-A3DB-88AD3F04D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en-US" sz="2200" dirty="0"/>
              <a:t>ITCAP 01 – Capstone Project and Research 1</a:t>
            </a:r>
            <a:endParaRPr lang="en-PH" sz="2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570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22D83-8E5E-2B7B-4C64-FA32CCD0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BC94-9FAB-793C-E330-BB628043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035" y="3002280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Definition of research</a:t>
            </a:r>
            <a:endParaRPr lang="en-PH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05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1963-0C24-9B4C-FE8C-9BF76668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What is research?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493FC-8915-43ED-2B38-070D80C8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4800" b="1" dirty="0"/>
              <a:t>Research</a:t>
            </a:r>
            <a:r>
              <a:rPr lang="en-US" sz="4800" dirty="0"/>
              <a:t> is a </a:t>
            </a:r>
            <a:r>
              <a:rPr lang="en-US" sz="4800" b="1" dirty="0"/>
              <a:t>systematic, objective, and scientific investigation</a:t>
            </a:r>
            <a:r>
              <a:rPr lang="en-US" sz="4800" dirty="0"/>
              <a:t> conducted to </a:t>
            </a:r>
            <a:r>
              <a:rPr lang="en-US" sz="4800" b="1" dirty="0"/>
              <a:t>discover new knowledge, verify existing knowledge, or solve a problem</a:t>
            </a:r>
            <a:r>
              <a:rPr lang="en-US" sz="4800" dirty="0"/>
              <a:t> by collecting, analyzing, and interpreting data.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54936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083C-4154-39E7-B3C5-318BB5B6F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5EC9-BB5D-C6CB-98E1-3D005162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research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33CB-DB7F-21E1-A6D4-FB0A30274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A careful and organized process of studying a topic.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A 4th-year IT student studies how a web-based inventory system affects the efficiency of a small business.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38291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3AA9-FCA8-676E-69B3-6A6D5720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6E1B-29D2-82F6-58AB-667EF699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SYSTEMATIC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418CF-743B-88C7-7600-71A0A75AA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Done step by step following a clear plan.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student identifies the problem, reviews related systems, designs the application, tests it, and evaluates the results.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91328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75EA-FF04-352E-5472-D596D77F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C644-4463-69E0-2FFF-22EC7EDD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OBJECTIVE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688FA-A8E5-1F9C-2B53-5F8C95FAF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 </a:t>
            </a:r>
            <a:r>
              <a:rPr lang="en-US" sz="4800" dirty="0"/>
              <a:t>Based on facts and measurable results, not personal opinion.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 </a:t>
            </a:r>
            <a:r>
              <a:rPr lang="en-US" sz="4800" dirty="0"/>
              <a:t>Instead of saying “the system works well,” the student measures processing time, error rate, and user satisfaction scores.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28909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197E-68B9-F57E-6B26-69C9A8A8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9698-0C43-B930-1EAC-3AF99EA8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SCIENTIFIC INVESTIGATION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874F7-6327-0619-3495-7EA5DA9B5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Uses accepted methods such as testing, experimentation, and data analysis.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student performs system testing, gathers performance metrics, and applies statistical analysis to compare old and new processes.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131556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73768-34DC-7D9D-0984-E6FEBC15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00AD-2A10-FFCF-64C3-3FB8B0C5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CONDUCTED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F00D-D2BC-3100-597D-4C0ECED0A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1078989" cy="373989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Carried out in an actual setting.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study is conducted in a local retail store using the developed inventory system.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2625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17E2-0A6C-B1F8-DECE-6DE7116F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75E2-1181-D281-BB79-338E003B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TO DISCOVER NEW KNOWLEDGE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3F82-D14C-2B39-F929-D4F1DB2F8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1078989" cy="373989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To find new insights or results.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research discovers that integrating barcode scanning reduces inventory errors by 40%.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1091875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8B29-09F3-CE12-1196-11AA4F59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F0E1-CD9C-4361-7F6B-8A5CF429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VERIFY EXISTING KNOWLEDGE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3EFBB-A65A-4C56-ACEF-5015C4853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To confirm previous studies or theories.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Previous research claims automated systems improve efficiency; the student verifies this using real business data.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838689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E6292-10FB-11F7-9781-18C1C2CD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FF0A-7D74-170B-6CA1-D18E7210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SOLVE PROBLEM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079F0-73BB-325F-2239-CFE4F5A3A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To address a specific issue.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business experiences frequent stock errors, and the developed system is designed to solve this problem.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759705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7909-F67C-E124-8720-B43BDD5B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A0D5-7931-A94C-B300-532B88E9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BY COLLECTING DATA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AA4B-6D7F-2C30-2FC9-1DA07D741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Gathering information needed for evaluation.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student collects system logs, transaction records, and user feedback surveys.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100586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7625-3010-8E48-D5B9-40576C19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870D-37D9-5233-55CB-4262B647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ANALYZING DATA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9441-3134-C37E-9DEF-BFEB12081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Examining data to identify patterns and results.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student compares manual inventory time versus system-based inventory time using tables and charts.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777515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DCE8-28FA-8156-EEAB-C6B13220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1610-70F7-8E6C-234A-6DD8E9EC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INTERPRET DATA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55F9-C440-C0E1-2CF5-FED7991D7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Explaining what the analyzed results mean.</a:t>
            </a:r>
            <a:br>
              <a:rPr lang="en-US" sz="4800" dirty="0"/>
            </a:br>
            <a:r>
              <a:rPr lang="en-US" sz="4800" b="1" dirty="0">
                <a:solidFill>
                  <a:srgbClr val="FF0000"/>
                </a:solidFill>
              </a:rPr>
              <a:t>Example:</a:t>
            </a:r>
            <a:r>
              <a:rPr lang="en-US" sz="4800" dirty="0">
                <a:solidFill>
                  <a:srgbClr val="FF0000"/>
                </a:solidFill>
              </a:rPr>
              <a:t> </a:t>
            </a:r>
            <a:r>
              <a:rPr lang="en-US" sz="4800" dirty="0"/>
              <a:t>The student concludes that the developed system significantly improves accuracy and operational efficiency.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243858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EDA0-BF7F-5A93-7B9A-03CF32FA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409F-7128-2116-231C-CA2C92931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SUMMARY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0BA75-518E-0708-8EE4-5761126C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4800" dirty="0"/>
              <a:t>A 4th-year IT student develops and evaluates a web-based inventory system using a systematic and objective research process to solve real-world business problems.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58022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1B41-EB8A-F935-3CF7-0DEF9B4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0A34-6371-6E11-9FB4-978231F8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2784348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Key characteristics</a:t>
            </a:r>
            <a:endParaRPr lang="en-PH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0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55B0-C833-518D-7F8D-082A4BBCB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06FFBAD-4E48-3AAB-100B-2EA27F8112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0084" y="920620"/>
            <a:ext cx="1085183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Systematic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follows a step-by-step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Empirical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observable and measurable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from personal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Analytical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statistical or qualitative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Theory-oriented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aims to explain, predict, or validate concept</a:t>
            </a:r>
          </a:p>
        </p:txBody>
      </p:sp>
    </p:spTree>
    <p:extLst>
      <p:ext uri="{BB962C8B-B14F-4D97-AF65-F5344CB8AC3E}">
        <p14:creationId xmlns:p14="http://schemas.microsoft.com/office/powerpoint/2010/main" val="2299119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21028-66C8-27E9-EC9E-E7F2E5D0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9DD8-43B9-C6CE-146A-ABE2D962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2784348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Main purpose of research</a:t>
            </a:r>
            <a:endParaRPr lang="en-PH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917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718B-7654-CF0F-1340-29844A63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ACF04AFB-5506-248E-31FF-061736B59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925" y="612848"/>
            <a:ext cx="1098867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new knowledge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test theories or hypotheses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relationships between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contribute to academic literature</a:t>
            </a:r>
          </a:p>
        </p:txBody>
      </p:sp>
    </p:spTree>
    <p:extLst>
      <p:ext uri="{BB962C8B-B14F-4D97-AF65-F5344CB8AC3E}">
        <p14:creationId xmlns:p14="http://schemas.microsoft.com/office/powerpoint/2010/main" val="2662134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4D20F-3DC1-C4F4-B6B6-62432527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9DE8-1976-A5D5-DBE7-001C18F25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2784348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example</a:t>
            </a:r>
            <a:endParaRPr lang="en-PH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842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93541-4801-3C3E-6593-AA569E18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0B566A72-9E61-812B-0CC4-5D1DFDF273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645" y="814726"/>
            <a:ext cx="10988675" cy="5228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0000"/>
                </a:solidFill>
              </a:rPr>
              <a:t>Title:</a:t>
            </a:r>
            <a:endParaRPr lang="en-US" sz="6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6000" dirty="0"/>
              <a:t>“Development and Evaluation of an Online Learning Management System for Improving Academic Performance of BSIT Students”</a:t>
            </a:r>
          </a:p>
        </p:txBody>
      </p:sp>
    </p:spTree>
    <p:extLst>
      <p:ext uri="{BB962C8B-B14F-4D97-AF65-F5344CB8AC3E}">
        <p14:creationId xmlns:p14="http://schemas.microsoft.com/office/powerpoint/2010/main" val="2897497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66D44-FF1D-67BD-4CA2-3B108925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CFB632AB-7E92-FC88-87BF-9095EB191B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925" y="772925"/>
            <a:ext cx="10988675" cy="531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Explanation (Aligned to BSIT Development)</a:t>
            </a:r>
          </a:p>
          <a:p>
            <a:r>
              <a:rPr lang="en-US" sz="2800" dirty="0"/>
              <a:t>The researcher </a:t>
            </a:r>
            <a:r>
              <a:rPr lang="en-US" sz="2800" b="1" dirty="0"/>
              <a:t>identifies a problem</a:t>
            </a:r>
            <a:r>
              <a:rPr lang="en-US" sz="2800" dirty="0"/>
              <a:t> in existing online learning platforms used by BSIT students (e.g., lack of interactivity, poor tracking of performance).</a:t>
            </a:r>
          </a:p>
          <a:p>
            <a:r>
              <a:rPr lang="en-US" sz="2800" dirty="0"/>
              <a:t>A </a:t>
            </a:r>
            <a:r>
              <a:rPr lang="en-US" sz="2800" b="1" dirty="0"/>
              <a:t>needs assessment</a:t>
            </a:r>
            <a:r>
              <a:rPr lang="en-US" sz="2800" dirty="0"/>
              <a:t> is conducted using </a:t>
            </a:r>
            <a:r>
              <a:rPr lang="en-US" sz="2800" b="1" dirty="0"/>
              <a:t>questionnaires and interviews</a:t>
            </a:r>
            <a:r>
              <a:rPr lang="en-US" sz="2800" dirty="0"/>
              <a:t> with BSIT students and instructors.</a:t>
            </a:r>
          </a:p>
          <a:p>
            <a:r>
              <a:rPr lang="en-US" sz="2800" dirty="0"/>
              <a:t>The researcher </a:t>
            </a:r>
            <a:r>
              <a:rPr lang="en-US" sz="2800" b="1" dirty="0"/>
              <a:t>designs and develops</a:t>
            </a:r>
            <a:r>
              <a:rPr lang="en-US" sz="2800" dirty="0"/>
              <a:t> an </a:t>
            </a:r>
            <a:r>
              <a:rPr lang="en-US" sz="2800" b="1" dirty="0"/>
              <a:t>Online Learning Management System (LMS)</a:t>
            </a:r>
            <a:r>
              <a:rPr lang="en-US" sz="2800" dirty="0"/>
              <a:t> tailored to BSIT subjects such as programming, networking, and databases.</a:t>
            </a:r>
          </a:p>
          <a:p>
            <a:r>
              <a:rPr lang="en-US" sz="2800" dirty="0"/>
              <a:t>The system is </a:t>
            </a:r>
            <a:r>
              <a:rPr lang="en-US" sz="2800" b="1" dirty="0"/>
              <a:t>implemented and tested</a:t>
            </a:r>
            <a:r>
              <a:rPr lang="en-US" sz="2800" dirty="0"/>
              <a:t> with BSIT students.</a:t>
            </a:r>
          </a:p>
        </p:txBody>
      </p:sp>
    </p:spTree>
    <p:extLst>
      <p:ext uri="{BB962C8B-B14F-4D97-AF65-F5344CB8AC3E}">
        <p14:creationId xmlns:p14="http://schemas.microsoft.com/office/powerpoint/2010/main" val="2111457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8873-24DA-C2B1-DF22-CF6A6EB6D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41A3089B-F9EB-ACFC-C673-74BFE54EEB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9925" y="842980"/>
            <a:ext cx="10988675" cy="5172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Evaluation data</a:t>
            </a:r>
            <a:r>
              <a:rPr lang="en-US" sz="3200" dirty="0"/>
              <a:t> are collected using:</a:t>
            </a:r>
          </a:p>
          <a:p>
            <a:pPr lvl="1"/>
            <a:r>
              <a:rPr lang="en-US" sz="2800" dirty="0"/>
              <a:t>Pre-test and post-test exam scores</a:t>
            </a:r>
          </a:p>
          <a:p>
            <a:pPr lvl="1"/>
            <a:r>
              <a:rPr lang="en-US" sz="2800" dirty="0"/>
              <a:t>User satisfaction and usability questionnaires</a:t>
            </a:r>
          </a:p>
          <a:p>
            <a:r>
              <a:rPr lang="en-US" sz="3200" b="1" dirty="0"/>
              <a:t>Statistical tools</a:t>
            </a:r>
            <a:r>
              <a:rPr lang="en-US" sz="3200" dirty="0"/>
              <a:t> such as </a:t>
            </a:r>
            <a:r>
              <a:rPr lang="en-US" sz="3200" b="1" dirty="0"/>
              <a:t>mean, t-test, and descriptive statistics</a:t>
            </a:r>
            <a:r>
              <a:rPr lang="en-US" sz="3200" dirty="0"/>
              <a:t> are applied to:</a:t>
            </a:r>
          </a:p>
          <a:p>
            <a:pPr lvl="1"/>
            <a:r>
              <a:rPr lang="en-US" sz="2800" dirty="0"/>
              <a:t>Determine improvement in academic performance</a:t>
            </a:r>
          </a:p>
          <a:p>
            <a:pPr lvl="1"/>
            <a:r>
              <a:rPr lang="en-US" sz="2800" dirty="0"/>
              <a:t>Assess system effectiveness and usability</a:t>
            </a:r>
          </a:p>
          <a:p>
            <a:r>
              <a:rPr lang="en-US" sz="3200" dirty="0"/>
              <a:t>Conclusions are drawn based on </a:t>
            </a:r>
            <a:r>
              <a:rPr lang="en-US" sz="3200" b="1" dirty="0"/>
              <a:t>both system performance and research data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6980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6E72-0D2B-BDCC-1F6B-B2FA75EA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5661-F56A-7924-515D-4D6B3DDB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2784348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Definition </a:t>
            </a:r>
            <a:endParaRPr lang="en-PH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533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B1B3-ADB4-8C14-D166-B6461E46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D7FA-0406-D285-8B30-B72B33B2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96112"/>
            <a:ext cx="10691265" cy="1307592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What is a capstone project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F973-D57F-AB8C-33FE-06BB17609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800" dirty="0"/>
              <a:t>A </a:t>
            </a:r>
            <a:r>
              <a:rPr lang="en-US" sz="4800" b="1" dirty="0"/>
              <a:t>Capstone Project</a:t>
            </a:r>
            <a:r>
              <a:rPr lang="en-US" sz="4800" dirty="0"/>
              <a:t> is a </a:t>
            </a:r>
            <a:r>
              <a:rPr lang="en-US" sz="4800" b="1" dirty="0"/>
              <a:t>culminating academic requirement</a:t>
            </a:r>
            <a:r>
              <a:rPr lang="en-US" sz="4800" dirty="0"/>
              <a:t> where students </a:t>
            </a:r>
            <a:r>
              <a:rPr lang="en-US" sz="4800" b="1" dirty="0"/>
              <a:t>apply knowledge and skills</a:t>
            </a:r>
            <a:r>
              <a:rPr lang="en-US" sz="4800" dirty="0"/>
              <a:t> gained throughout their program to </a:t>
            </a:r>
            <a:r>
              <a:rPr lang="en-US" sz="4800" b="1" dirty="0"/>
              <a:t>design, develop, or implement a practical solution</a:t>
            </a:r>
            <a:r>
              <a:rPr lang="en-US" sz="4800" dirty="0"/>
              <a:t> to a real-world problem.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29079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7F6C-23DD-0C6D-CCA9-04ECFA8F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ACB8-7975-A47C-495E-546A9A14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96112"/>
            <a:ext cx="10691265" cy="1307592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Key characteristics of a capstone project</a:t>
            </a:r>
            <a:endParaRPr lang="en-PH" sz="4400" b="1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5A909A-EEF1-5045-86FB-A16FFEB7E5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306580"/>
            <a:ext cx="1079127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Application-oriented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focuses on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Product-based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produces a system, model, or prototype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Integrative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combines multiple subjects or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Problem-solving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addresses a specific real-world issue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 or user-focused</a:t>
            </a: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designed for actual users</a:t>
            </a:r>
          </a:p>
        </p:txBody>
      </p:sp>
    </p:spTree>
    <p:extLst>
      <p:ext uri="{BB962C8B-B14F-4D97-AF65-F5344CB8AC3E}">
        <p14:creationId xmlns:p14="http://schemas.microsoft.com/office/powerpoint/2010/main" val="390943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B274-DC58-FC01-6092-AF6EB507E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6EA0-465E-5954-AFE0-51C2A851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896112"/>
            <a:ext cx="10691265" cy="1307592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Main purpose of a capstone project</a:t>
            </a:r>
            <a:endParaRPr lang="en-PH" sz="4400" b="1" dirty="0">
              <a:solidFill>
                <a:srgbClr val="FF00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2EF8A8-CAF3-FD3A-8AEA-937BD70F23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9" y="1923488"/>
            <a:ext cx="1118711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mastery of skills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 practical or industry-based problems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systems, tools, or models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students for professional practice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9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0808-E629-7166-798E-4C430C18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6B3C-1A1B-E5DC-15E1-AC1C95F3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280160"/>
            <a:ext cx="10691265" cy="4681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Example of a Capstone Project</a:t>
            </a:r>
          </a:p>
          <a:p>
            <a:r>
              <a:rPr lang="en-US" sz="4800" b="1" dirty="0">
                <a:solidFill>
                  <a:srgbClr val="FF0000"/>
                </a:solidFill>
              </a:rPr>
              <a:t>Title:</a:t>
            </a:r>
            <a:endParaRPr lang="en-US" sz="4800" dirty="0">
              <a:solidFill>
                <a:srgbClr val="FF0000"/>
              </a:solidFill>
            </a:endParaRPr>
          </a:p>
          <a:p>
            <a:r>
              <a:rPr lang="en-US" sz="4800" i="1" dirty="0"/>
              <a:t>“Development of a Web-Based Student Information System for Talavera Senior High School”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887123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AFB5-8036-9247-45F4-5E536B0B0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59300-9E6B-B952-9666-24DC480CD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280160"/>
            <a:ext cx="10691265" cy="4681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</a:rPr>
              <a:t>Explanation:</a:t>
            </a:r>
          </a:p>
          <a:p>
            <a:pPr marL="0" indent="0">
              <a:buNone/>
            </a:pPr>
            <a:r>
              <a:rPr lang="en-US" sz="4800" dirty="0"/>
              <a:t>Students analyze school needs</a:t>
            </a:r>
          </a:p>
          <a:p>
            <a:pPr marL="0" indent="0">
              <a:buNone/>
            </a:pPr>
            <a:r>
              <a:rPr lang="en-US" sz="4800" dirty="0"/>
              <a:t>Design system architecture</a:t>
            </a:r>
          </a:p>
          <a:p>
            <a:pPr marL="0" indent="0">
              <a:buNone/>
            </a:pPr>
            <a:r>
              <a:rPr lang="en-US" sz="4800" dirty="0"/>
              <a:t>Develop and test the system</a:t>
            </a:r>
          </a:p>
          <a:p>
            <a:pPr marL="0" indent="0">
              <a:buNone/>
            </a:pPr>
            <a:r>
              <a:rPr lang="en-US" sz="4800" dirty="0"/>
              <a:t>Deploy and evaluate usability</a:t>
            </a:r>
          </a:p>
        </p:txBody>
      </p:sp>
    </p:spTree>
    <p:extLst>
      <p:ext uri="{BB962C8B-B14F-4D97-AF65-F5344CB8AC3E}">
        <p14:creationId xmlns:p14="http://schemas.microsoft.com/office/powerpoint/2010/main" val="2561286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FAC5-FA8B-C61A-4255-3FA6062D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DAE0-B4AD-4B1B-C692-6EB5564A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In simple terms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393D0-49BE-8B96-2C40-3FFA02023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5400" dirty="0"/>
              <a:t>A </a:t>
            </a:r>
            <a:r>
              <a:rPr lang="en-US" sz="5400" dirty="0">
                <a:solidFill>
                  <a:srgbClr val="FF0000"/>
                </a:solidFill>
              </a:rPr>
              <a:t>research</a:t>
            </a:r>
            <a:r>
              <a:rPr lang="en-US" sz="5400" dirty="0"/>
              <a:t> asks a question and proves the answer using evidence.</a:t>
            </a:r>
          </a:p>
          <a:p>
            <a:pPr algn="just"/>
            <a:r>
              <a:rPr lang="en-US" sz="5400" dirty="0"/>
              <a:t>A </a:t>
            </a:r>
            <a:r>
              <a:rPr lang="en-US" sz="5400" dirty="0">
                <a:solidFill>
                  <a:srgbClr val="FF0000"/>
                </a:solidFill>
              </a:rPr>
              <a:t>capstone project </a:t>
            </a:r>
            <a:r>
              <a:rPr lang="en-US" sz="5400" dirty="0"/>
              <a:t>builds or creates a solution.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1496626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1A3DE1-2C40-254E-E51C-E7FBB3744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899024"/>
            <a:ext cx="3076032" cy="3914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000" b="1" i="0" u="none" strike="noStrike" cap="all" spc="30" normalizeH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Research vs Capstone Project (Comparison)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4000" b="0" i="0" u="none" strike="noStrike" cap="all" spc="30" normalizeH="0">
              <a:ln>
                <a:noFill/>
              </a:ln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886EA7-2F2B-8D2F-90EA-D46C8FDF4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48548"/>
              </p:ext>
            </p:extLst>
          </p:nvPr>
        </p:nvGraphicFramePr>
        <p:xfrm>
          <a:off x="4038600" y="579120"/>
          <a:ext cx="7353300" cy="582167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67467">
                  <a:extLst>
                    <a:ext uri="{9D8B030D-6E8A-4147-A177-3AD203B41FA5}">
                      <a16:colId xmlns:a16="http://schemas.microsoft.com/office/drawing/2014/main" val="1689317469"/>
                    </a:ext>
                  </a:extLst>
                </a:gridCol>
                <a:gridCol w="2879100">
                  <a:extLst>
                    <a:ext uri="{9D8B030D-6E8A-4147-A177-3AD203B41FA5}">
                      <a16:colId xmlns:a16="http://schemas.microsoft.com/office/drawing/2014/main" val="1121556160"/>
                    </a:ext>
                  </a:extLst>
                </a:gridCol>
                <a:gridCol w="2906733">
                  <a:extLst>
                    <a:ext uri="{9D8B030D-6E8A-4147-A177-3AD203B41FA5}">
                      <a16:colId xmlns:a16="http://schemas.microsoft.com/office/drawing/2014/main" val="2773669966"/>
                    </a:ext>
                  </a:extLst>
                </a:gridCol>
              </a:tblGrid>
              <a:tr h="508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b="1" cap="none" spc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b="1" cap="none" spc="0">
                          <a:solidFill>
                            <a:schemeClr val="tx1"/>
                          </a:solidFill>
                        </a:rPr>
                        <a:t>Research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b="1" cap="none" spc="0" dirty="0">
                          <a:solidFill>
                            <a:schemeClr val="tx1"/>
                          </a:solidFill>
                        </a:rPr>
                        <a:t>Capstone Project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1791747469"/>
                  </a:ext>
                </a:extLst>
              </a:tr>
              <a:tr h="56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Primary Focus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Knowledge discovery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Solution development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788431302"/>
                  </a:ext>
                </a:extLst>
              </a:tr>
              <a:tr h="56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 dirty="0">
                          <a:solidFill>
                            <a:schemeClr val="tx1"/>
                          </a:solidFill>
                        </a:rPr>
                        <a:t>Findings, conclusions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System, prototype, product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237645304"/>
                  </a:ext>
                </a:extLst>
              </a:tr>
              <a:tr h="56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Nature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Theoretical / analytical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Practical / applied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642055793"/>
                  </a:ext>
                </a:extLst>
              </a:tr>
              <a:tr h="835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Quantitative / qualitative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Software development / design framework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1889686100"/>
                  </a:ext>
                </a:extLst>
              </a:tr>
              <a:tr h="835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Data Collection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Surveys, experiments, interviews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Requirements analysis, testing, user feedback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3779411241"/>
                  </a:ext>
                </a:extLst>
              </a:tr>
              <a:tr h="56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Use of Statistics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Extensive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Limited (often for evaluation only)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3146126957"/>
                  </a:ext>
                </a:extLst>
              </a:tr>
              <a:tr h="561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Contribution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Academic literature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Industry or institutional solution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105288886"/>
                  </a:ext>
                </a:extLst>
              </a:tr>
              <a:tr h="835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Example Output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400" cap="none" spc="0">
                          <a:solidFill>
                            <a:schemeClr val="tx1"/>
                          </a:solidFill>
                        </a:rPr>
                        <a:t>Research paper</a:t>
                      </a:r>
                    </a:p>
                  </a:txBody>
                  <a:tcPr marL="74277" marR="96448" marT="21222" marB="1591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400" cap="none" spc="0" dirty="0">
                          <a:solidFill>
                            <a:schemeClr val="tx1"/>
                          </a:solidFill>
                        </a:rPr>
                        <a:t>Software system, mobile app, hardware prototype</a:t>
                      </a:r>
                    </a:p>
                  </a:txBody>
                  <a:tcPr marL="74277" marR="96448" marT="21222" marB="159164" anchor="ctr"/>
                </a:tc>
                <a:extLst>
                  <a:ext uri="{0D108BD9-81ED-4DB2-BD59-A6C34878D82A}">
                    <a16:rowId xmlns:a16="http://schemas.microsoft.com/office/drawing/2014/main" val="1193596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033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FC99-A1AB-C7A1-65BD-1E09D316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2DBF-E6D6-F65D-1524-25BD0D48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99247"/>
            <a:ext cx="11491365" cy="1307592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Relationship Between Research and Capstone Project</a:t>
            </a:r>
            <a:endParaRPr lang="en-PH" sz="3600" b="1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BBCF690-0E0E-8FA1-D71B-890B09270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1830420"/>
            <a:ext cx="1149136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capstone project often includes a research component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Needs assessment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Feasibility study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provides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theoretical foundation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capstone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Capstone projects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apply research findings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 real solutions</a:t>
            </a:r>
          </a:p>
        </p:txBody>
      </p:sp>
    </p:spTree>
    <p:extLst>
      <p:ext uri="{BB962C8B-B14F-4D97-AF65-F5344CB8AC3E}">
        <p14:creationId xmlns:p14="http://schemas.microsoft.com/office/powerpoint/2010/main" val="1703145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F648E-7C74-C16D-CF33-E6A5D1DA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429E-BC2D-4312-2193-2756D48B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Showing the </a:t>
            </a:r>
            <a:r>
              <a:rPr lang="en-US" sz="3600" b="1">
                <a:solidFill>
                  <a:srgbClr val="FF0000"/>
                </a:solidFill>
              </a:rPr>
              <a:t>difference clearly </a:t>
            </a:r>
            <a:endParaRPr lang="en-PH" sz="36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F255A-D472-0A86-3DB4-1B5A0F69EC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Research Approach: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i="1" dirty="0"/>
              <a:t>“Factors Affecting Student Engagement in Online ICT Classes”</a:t>
            </a:r>
            <a:endParaRPr lang="en-US" sz="3200" dirty="0"/>
          </a:p>
          <a:p>
            <a:pPr lvl="1"/>
            <a:r>
              <a:rPr lang="en-US" sz="2800" dirty="0"/>
              <a:t>Identifies causes</a:t>
            </a:r>
          </a:p>
          <a:p>
            <a:pPr lvl="1"/>
            <a:r>
              <a:rPr lang="en-US" sz="2800" dirty="0"/>
              <a:t>Analyzes variables</a:t>
            </a:r>
          </a:p>
          <a:p>
            <a:pPr lvl="1"/>
            <a:r>
              <a:rPr lang="en-US" sz="2800" dirty="0"/>
              <a:t>Provides recommendations</a:t>
            </a:r>
          </a:p>
          <a:p>
            <a:endParaRPr lang="en-P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DD926-9038-EF72-711B-32D1775C93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500" b="1" dirty="0">
                <a:solidFill>
                  <a:srgbClr val="FF0000"/>
                </a:solidFill>
              </a:rPr>
              <a:t>Capstone Approach:</a:t>
            </a:r>
            <a:endParaRPr lang="en-US" sz="35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500" i="1" dirty="0"/>
              <a:t>“Development of an Interactive ICT Learning Platform to Improve Student Engagement”</a:t>
            </a:r>
            <a:endParaRPr lang="en-US" sz="3500" dirty="0"/>
          </a:p>
          <a:p>
            <a:pPr lvl="1"/>
            <a:r>
              <a:rPr lang="en-US" sz="3000" dirty="0"/>
              <a:t>Builds a system</a:t>
            </a:r>
          </a:p>
          <a:p>
            <a:pPr lvl="1"/>
            <a:r>
              <a:rPr lang="en-US" sz="3000" dirty="0"/>
              <a:t>Implements features</a:t>
            </a:r>
          </a:p>
          <a:p>
            <a:pPr lvl="1"/>
            <a:r>
              <a:rPr lang="en-US" sz="3000" dirty="0"/>
              <a:t>Evaluates usability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66495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F9A3-2CAC-A8A3-C034-0795C3B7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EFD4-C435-C84A-592E-5CD13FAE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In simple ANALOGY</a:t>
            </a:r>
            <a:endParaRPr lang="en-PH" sz="6000" b="1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DA76EE-2DBF-8493-7046-559D1E53EA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9" y="2479161"/>
            <a:ext cx="1012031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Research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4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diagnosing an illness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Capstone Project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4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 prescribing and implementing treatment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661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31F03-5BB1-88A4-7FC8-07699F02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2348-310C-0E84-E950-2521C9D7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Summary for Students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281F67-D0D0-768C-E03B-3282396834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9" y="2177219"/>
            <a:ext cx="10120312" cy="340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Research</a:t>
            </a:r>
            <a:r>
              <a:rPr lang="en-US" sz="4400" dirty="0"/>
              <a:t> explains </a:t>
            </a:r>
            <a:r>
              <a:rPr lang="en-US" sz="4400" b="1" dirty="0">
                <a:solidFill>
                  <a:srgbClr val="FF0000"/>
                </a:solidFill>
              </a:rPr>
              <a:t>why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/>
              <a:t>a problem exists</a:t>
            </a:r>
          </a:p>
          <a:p>
            <a:r>
              <a:rPr lang="en-US" sz="4400" b="1" dirty="0">
                <a:solidFill>
                  <a:srgbClr val="FF0000"/>
                </a:solidFill>
              </a:rPr>
              <a:t>Capstone Project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/>
              <a:t>shows </a:t>
            </a:r>
            <a:r>
              <a:rPr lang="en-US" sz="4400" b="1" dirty="0">
                <a:solidFill>
                  <a:srgbClr val="FF0000"/>
                </a:solidFill>
              </a:rPr>
              <a:t>how</a:t>
            </a:r>
            <a:r>
              <a:rPr lang="en-US" sz="4400" dirty="0"/>
              <a:t> to solve it</a:t>
            </a:r>
          </a:p>
          <a:p>
            <a:r>
              <a:rPr lang="en-US" sz="4400" dirty="0"/>
              <a:t>Research produces </a:t>
            </a:r>
            <a:r>
              <a:rPr lang="en-US" sz="4400" b="1" dirty="0">
                <a:solidFill>
                  <a:srgbClr val="FF0000"/>
                </a:solidFill>
              </a:rPr>
              <a:t>knowledge</a:t>
            </a:r>
            <a:endParaRPr lang="en-US" sz="4400" dirty="0">
              <a:solidFill>
                <a:srgbClr val="FF0000"/>
              </a:solidFill>
            </a:endParaRPr>
          </a:p>
          <a:p>
            <a:r>
              <a:rPr lang="en-US" sz="4400" dirty="0"/>
              <a:t>Capstone produces </a:t>
            </a:r>
            <a:r>
              <a:rPr lang="en-US" sz="4400" b="1" dirty="0">
                <a:solidFill>
                  <a:srgbClr val="FF0000"/>
                </a:solidFill>
              </a:rPr>
              <a:t>solutions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599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C1722-7E0F-769D-E32C-4D064126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59CE-9D6E-8F69-D9B0-4F4BE45B2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Summary for Students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F3C880-0969-CA9F-3CDD-0645A7B77B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9" y="2177219"/>
            <a:ext cx="10120312" cy="340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Research</a:t>
            </a:r>
            <a:r>
              <a:rPr lang="en-US" sz="4400" dirty="0"/>
              <a:t> explains </a:t>
            </a:r>
            <a:r>
              <a:rPr lang="en-US" sz="4400" b="1" dirty="0">
                <a:solidFill>
                  <a:srgbClr val="FF0000"/>
                </a:solidFill>
              </a:rPr>
              <a:t>why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/>
              <a:t>a problem exists</a:t>
            </a:r>
          </a:p>
          <a:p>
            <a:r>
              <a:rPr lang="en-US" sz="4400" b="1" dirty="0">
                <a:solidFill>
                  <a:srgbClr val="FF0000"/>
                </a:solidFill>
              </a:rPr>
              <a:t>Capstone Project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/>
              <a:t>shows </a:t>
            </a:r>
            <a:r>
              <a:rPr lang="en-US" sz="4400" b="1" dirty="0">
                <a:solidFill>
                  <a:srgbClr val="FF0000"/>
                </a:solidFill>
              </a:rPr>
              <a:t>how</a:t>
            </a:r>
            <a:r>
              <a:rPr lang="en-US" sz="4400" dirty="0"/>
              <a:t> to solve it</a:t>
            </a:r>
          </a:p>
          <a:p>
            <a:r>
              <a:rPr lang="en-US" sz="4400" dirty="0"/>
              <a:t>Research produces </a:t>
            </a:r>
            <a:r>
              <a:rPr lang="en-US" sz="4400" b="1" dirty="0">
                <a:solidFill>
                  <a:srgbClr val="FF0000"/>
                </a:solidFill>
              </a:rPr>
              <a:t>knowledge</a:t>
            </a:r>
            <a:endParaRPr lang="en-US" sz="4400" dirty="0">
              <a:solidFill>
                <a:srgbClr val="FF0000"/>
              </a:solidFill>
            </a:endParaRPr>
          </a:p>
          <a:p>
            <a:r>
              <a:rPr lang="en-US" sz="4400" dirty="0"/>
              <a:t>Capstone produces </a:t>
            </a:r>
            <a:r>
              <a:rPr lang="en-US" sz="4400" b="1" dirty="0">
                <a:solidFill>
                  <a:srgbClr val="FF0000"/>
                </a:solidFill>
              </a:rPr>
              <a:t>solutions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653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054B-9E6B-DF20-8E96-BC08976F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87E0-14B4-BE62-736B-3AF4EE97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KINDS OF RESEARCH BASED ON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EF6BD-523B-4400-11DE-8D4F54953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1. Basic (Pure) Research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Definition:</a:t>
            </a:r>
            <a:br>
              <a:rPr lang="en-US" dirty="0"/>
            </a:br>
            <a:r>
              <a:rPr lang="en-US" dirty="0"/>
              <a:t>Basic research is conducted to </a:t>
            </a:r>
            <a:r>
              <a:rPr lang="en-US" b="1" dirty="0"/>
              <a:t>expand knowledge</a:t>
            </a:r>
            <a:r>
              <a:rPr lang="en-US" dirty="0"/>
              <a:t> without immediate practical application.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Purpose: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To develop theories</a:t>
            </a:r>
          </a:p>
          <a:p>
            <a:r>
              <a:rPr lang="en-US" dirty="0"/>
              <a:t>To explain phenomena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“A Study on the Cognitive Processes Involved in Problem-Solving among Computer Science Students”</a:t>
            </a:r>
            <a:endParaRPr lang="en-US" dirty="0"/>
          </a:p>
          <a:p>
            <a:r>
              <a:rPr lang="en-US" dirty="0"/>
              <a:t>📌 </a:t>
            </a:r>
            <a:r>
              <a:rPr lang="en-US" b="1" dirty="0"/>
              <a:t>Note:</a:t>
            </a:r>
            <a:r>
              <a:rPr lang="en-US" dirty="0"/>
              <a:t> No product or system is developed.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2833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C3BB-D012-A2C6-ED3B-09FB4C85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8BBC4-FB43-4593-B6F6-F079B8B5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KINDS OF RESEARCH BASED ON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AECD6-3685-C8FC-1C5D-4DFD5A0B4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2. Applied Research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Definition:</a:t>
            </a:r>
            <a:br>
              <a:rPr lang="en-US" sz="2400" dirty="0"/>
            </a:br>
            <a:r>
              <a:rPr lang="en-US" sz="2400" dirty="0"/>
              <a:t>Applied research aims to </a:t>
            </a:r>
            <a:r>
              <a:rPr lang="en-US" sz="2400" b="1" dirty="0"/>
              <a:t>solve a specific, practical problem</a:t>
            </a:r>
            <a:r>
              <a:rPr lang="en-US" sz="2400" dirty="0"/>
              <a:t> using existing theories and knowledge.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To find solutions to real-world issues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“Improving Network Security in School Computer Laboratories Using Multi-Factor Authentication”</a:t>
            </a:r>
            <a:endParaRPr lang="en-US" sz="2400" dirty="0"/>
          </a:p>
          <a:p>
            <a:r>
              <a:rPr lang="en-US" sz="2400" dirty="0"/>
              <a:t>📌 Common in </a:t>
            </a:r>
            <a:r>
              <a:rPr lang="en-US" sz="2400" b="1" dirty="0"/>
              <a:t>education, IT, engineering, and health sciences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3183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BCF5-5DA1-729A-8B75-E1A1B0F9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868B-7EAA-04FF-188A-626AFF8C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KINDS OF RESEARCH BASED ON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1163-D50D-9319-8B83-D3B65BED5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3. Developmental Research (Research and Development – R&amp;D)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Definition:</a:t>
            </a:r>
            <a:br>
              <a:rPr lang="en-US" sz="2400" dirty="0"/>
            </a:br>
            <a:r>
              <a:rPr lang="en-US" sz="2400" dirty="0"/>
              <a:t>Focuses on </a:t>
            </a:r>
            <a:r>
              <a:rPr lang="en-US" sz="2400" b="1" dirty="0"/>
              <a:t>designing, developing, and evaluating products, models, or systems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To create or improve tools, systems, or processes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“Development and Evaluation of an Online ICT Learning Platform for Senior High School Students”</a:t>
            </a:r>
            <a:endParaRPr lang="en-US" sz="2400" dirty="0"/>
          </a:p>
          <a:p>
            <a:r>
              <a:rPr lang="en-US" sz="2400" dirty="0"/>
              <a:t>📌 Often overlaps with </a:t>
            </a:r>
            <a:r>
              <a:rPr lang="en-US" sz="2400" b="1" dirty="0"/>
              <a:t>capstone projects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9625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90AD-CE1C-B8F7-D2E2-CC9E04C0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3BD3-CA90-BC0F-BB44-811B99EF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KINDS OF RESEARCH BY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CEDF-5EE6-2161-F344-BCDDE4548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4. Quantitative Research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Definition:</a:t>
            </a:r>
            <a:br>
              <a:rPr lang="en-US" sz="2400" dirty="0"/>
            </a:br>
            <a:r>
              <a:rPr lang="en-US" sz="2400" dirty="0"/>
              <a:t>Uses </a:t>
            </a:r>
            <a:r>
              <a:rPr lang="en-US" sz="2400" b="1" dirty="0"/>
              <a:t>numerical data</a:t>
            </a:r>
            <a:r>
              <a:rPr lang="en-US" sz="2400" dirty="0"/>
              <a:t> and </a:t>
            </a:r>
            <a:r>
              <a:rPr lang="en-US" sz="2400" b="1" dirty="0"/>
              <a:t>statistical analysis</a:t>
            </a:r>
            <a:r>
              <a:rPr lang="en-US" sz="2400" dirty="0"/>
              <a:t> to test hypotheses.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To measure relationships</a:t>
            </a:r>
          </a:p>
          <a:p>
            <a:r>
              <a:rPr lang="en-US" sz="2400" dirty="0"/>
              <a:t>To test cause-and-effect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Common Tools:</a:t>
            </a:r>
            <a:br>
              <a:rPr lang="en-US" sz="2400" dirty="0"/>
            </a:br>
            <a:r>
              <a:rPr lang="en-US" sz="2400" dirty="0"/>
              <a:t>Surveys, experiments, tests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“The Effect of Study Time on Programming Performance of ICT Students”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81257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2864-713E-26C8-83DF-32B1ABCE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1384-7325-C4F3-609D-FF77603F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KINDS OF RESEARCH BY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DCEC2-B68A-DD97-6424-73DF7A72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5. Qualitative Research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Definition:</a:t>
            </a:r>
            <a:br>
              <a:rPr lang="en-US" sz="2400" dirty="0"/>
            </a:br>
            <a:r>
              <a:rPr lang="en-US" sz="2400" dirty="0"/>
              <a:t>Explores </a:t>
            </a:r>
            <a:r>
              <a:rPr lang="en-US" sz="2400" b="1" dirty="0"/>
              <a:t>experiences, perceptions, and meanings</a:t>
            </a:r>
            <a:r>
              <a:rPr lang="en-US" sz="2400" dirty="0"/>
              <a:t> using non-numerical data.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To understand behavior and perspectives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Common Tools:</a:t>
            </a:r>
            <a:br>
              <a:rPr lang="en-US" sz="2400" dirty="0"/>
            </a:br>
            <a:r>
              <a:rPr lang="en-US" sz="2400" dirty="0"/>
              <a:t>Interviews, focus groups, observations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“Students’ Experiences in Learning Programming during Remote Classes”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2652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0B85-7DE1-A410-D60D-DD1C63D5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2AE3-F835-AD2D-73E8-E81883BB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</a:rPr>
              <a:t>KINDS OF RESEARCH BY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273F-01FF-3A3D-389C-12B5AE30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6. Mixed-Methods Research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Definition:</a:t>
            </a:r>
            <a:br>
              <a:rPr lang="en-US" sz="2400" dirty="0"/>
            </a:br>
            <a:r>
              <a:rPr lang="en-US" sz="2400" dirty="0"/>
              <a:t>Combines </a:t>
            </a:r>
            <a:r>
              <a:rPr lang="en-US" sz="2400" b="1" dirty="0"/>
              <a:t>quantitative and qualitative methods</a:t>
            </a:r>
            <a:r>
              <a:rPr lang="en-US" sz="2400" dirty="0"/>
              <a:t> in one study.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To provide deeper and more comprehensive analysis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“A Mixed-Methods Study on the Effectiveness of Online Learning Platforms in ICT Education”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4173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9832-C067-9FAC-D7AA-5ACF6B5B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AAA8-52A2-FD38-3C8B-C145B09A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KINDS OF RESEARCH BASED ON TIME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72AF-F792-861D-A6EC-DAD4F106E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0240"/>
            <a:ext cx="10691265" cy="4041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7. Cross-Sectional Research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Definition:</a:t>
            </a:r>
            <a:br>
              <a:rPr lang="en-US" sz="4000" dirty="0"/>
            </a:br>
            <a:r>
              <a:rPr lang="en-US" sz="4000" dirty="0"/>
              <a:t>Collects data </a:t>
            </a:r>
            <a:r>
              <a:rPr lang="en-US" sz="4000" b="1" dirty="0"/>
              <a:t>at one point in time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Example:</a:t>
            </a:r>
            <a:endParaRPr lang="en-US" sz="4000" dirty="0">
              <a:solidFill>
                <a:srgbClr val="FF0000"/>
              </a:solidFill>
            </a:endParaRPr>
          </a:p>
          <a:p>
            <a:r>
              <a:rPr lang="en-US" sz="4000" i="1" dirty="0"/>
              <a:t>“Digital Skills of ICT Students in AY 2025–2026”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50445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F41F-8DBB-7495-0917-3070231F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CCF6-C57A-63E6-458D-108669C9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KINDS OF RESEARCH BASED ON NATURE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9D7D4-8ACE-09ED-6B22-081DE6509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PH" sz="4200" b="1" dirty="0">
                <a:solidFill>
                  <a:srgbClr val="FF0000"/>
                </a:solidFill>
              </a:rPr>
              <a:t>8. Historical Research</a:t>
            </a:r>
            <a:endParaRPr lang="en-US" sz="4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Definition:</a:t>
            </a:r>
            <a:br>
              <a:rPr lang="en-US" sz="4000" dirty="0"/>
            </a:br>
            <a:r>
              <a:rPr lang="en-US" sz="4000" dirty="0"/>
              <a:t>Studies </a:t>
            </a:r>
            <a:r>
              <a:rPr lang="en-US" sz="4000" b="1" dirty="0"/>
              <a:t>past events</a:t>
            </a:r>
            <a:r>
              <a:rPr lang="en-US" sz="4000" dirty="0"/>
              <a:t> to understand present and future conditions.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Example:</a:t>
            </a:r>
            <a:endParaRPr lang="en-US" sz="4000" dirty="0">
              <a:solidFill>
                <a:srgbClr val="FF0000"/>
              </a:solidFill>
            </a:endParaRPr>
          </a:p>
          <a:p>
            <a:r>
              <a:rPr lang="en-US" sz="4000" i="1" dirty="0"/>
              <a:t>“Evolution of ICT Curriculum in Philippine Public Schools”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94976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9642D-125D-F29E-AA03-34EE924A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072D5-DE08-2572-54EE-1D171A15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486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A </a:t>
            </a:r>
            <a:r>
              <a:rPr lang="en-US" sz="4400" b="1" dirty="0">
                <a:solidFill>
                  <a:srgbClr val="FF0000"/>
                </a:solidFill>
              </a:rPr>
              <a:t>research problem </a:t>
            </a:r>
            <a:r>
              <a:rPr lang="en-US" sz="4400" dirty="0"/>
              <a:t>is an issue, difficulty, or gap in knowledge that needs investigation.</a:t>
            </a:r>
            <a:br>
              <a:rPr lang="en-US" sz="4400" dirty="0"/>
            </a:br>
            <a:r>
              <a:rPr lang="en-US" sz="4400" dirty="0"/>
              <a:t>To identify a good research problem, a researcher must know </a:t>
            </a:r>
            <a:r>
              <a:rPr lang="en-US" sz="4400" b="1" dirty="0"/>
              <a:t>where problems come from</a:t>
            </a:r>
            <a:r>
              <a:rPr lang="en-US" sz="4400" dirty="0"/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582896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AB66-D5EB-17CD-222F-E42DA615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FC9C6-252D-2B5A-2EAE-F655127E0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I. Personal and Professional Experience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dirty="0"/>
              <a:t>Problems often arise from the researcher’s </a:t>
            </a:r>
            <a:r>
              <a:rPr lang="en-US" b="1" dirty="0"/>
              <a:t>own experiences</a:t>
            </a:r>
            <a:r>
              <a:rPr lang="en-US" dirty="0"/>
              <a:t>, observations, or challenges in their field.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Why this is a good source</a:t>
            </a:r>
          </a:p>
          <a:p>
            <a:r>
              <a:rPr lang="en-US" dirty="0"/>
              <a:t>Practical and realistic</a:t>
            </a:r>
          </a:p>
          <a:p>
            <a:r>
              <a:rPr lang="en-US" dirty="0"/>
              <a:t>Researcher understands the context</a:t>
            </a:r>
          </a:p>
          <a:p>
            <a:r>
              <a:rPr lang="en-US" dirty="0"/>
              <a:t>Easy access to data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A teacher notices </a:t>
            </a:r>
            <a:r>
              <a:rPr lang="en-US" b="1" dirty="0"/>
              <a:t>low student engagement</a:t>
            </a:r>
            <a:r>
              <a:rPr lang="en-US" dirty="0"/>
              <a:t> in online classes.</a:t>
            </a:r>
          </a:p>
          <a:p>
            <a:r>
              <a:rPr lang="en-US" dirty="0"/>
              <a:t>An ICT coordinator observes </a:t>
            </a:r>
            <a:r>
              <a:rPr lang="en-US" b="1" dirty="0"/>
              <a:t>frequent system failures</a:t>
            </a:r>
            <a:r>
              <a:rPr lang="en-US" dirty="0"/>
              <a:t> in computer laboratories.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Research Problem Example: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Low engagement of ICT students during online laboratory activities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3333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1761B-A426-079C-EF9A-0475E667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B32E2-E0D9-FFD6-519F-681054CD0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II. Review of Related Literature (RRL)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dirty="0"/>
              <a:t>Problems are identified by analyzing </a:t>
            </a:r>
            <a:r>
              <a:rPr lang="en-US" b="1" dirty="0"/>
              <a:t>previous studies</a:t>
            </a:r>
            <a:r>
              <a:rPr lang="en-US" dirty="0"/>
              <a:t>, journals, theses, and dissertations.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Indicators of a Research Problem in Literature</a:t>
            </a:r>
          </a:p>
          <a:p>
            <a:r>
              <a:rPr lang="en-US" dirty="0"/>
              <a:t>Conflicting findings</a:t>
            </a:r>
          </a:p>
          <a:p>
            <a:r>
              <a:rPr lang="en-US" dirty="0"/>
              <a:t>Limitations stated by authors</a:t>
            </a:r>
          </a:p>
          <a:p>
            <a:r>
              <a:rPr lang="en-US" dirty="0"/>
              <a:t>Recommendations for future studies</a:t>
            </a:r>
          </a:p>
          <a:p>
            <a:r>
              <a:rPr lang="en-US" dirty="0"/>
              <a:t>Outdated data or contexts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A study recommends:</a:t>
            </a:r>
          </a:p>
          <a:p>
            <a:r>
              <a:rPr lang="en-US" dirty="0"/>
              <a:t>“Future research may explore the effectiveness of AI-assisted learning tools in public senior high schools.”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Research Problem Example: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Lack of studies on AI-assisted learning tools in public senior high schools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55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D68D8-9DB8-0CCD-CE59-E7575006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B024-2604-AD20-BD76-604C5AC1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III. Gaps in Existing Knowledge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dirty="0"/>
              <a:t>A </a:t>
            </a:r>
            <a:r>
              <a:rPr lang="en-US" b="1" dirty="0"/>
              <a:t>research gap</a:t>
            </a:r>
            <a:r>
              <a:rPr lang="en-US" dirty="0"/>
              <a:t> exists when an issue has </a:t>
            </a:r>
            <a:r>
              <a:rPr lang="en-US" b="1" dirty="0"/>
              <a:t>not been sufficiently studied</a:t>
            </a:r>
            <a:r>
              <a:rPr lang="en-US" dirty="0"/>
              <a:t> or explored.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Types of Research Gaps</a:t>
            </a:r>
          </a:p>
          <a:p>
            <a:r>
              <a:rPr lang="en-US" dirty="0"/>
              <a:t>Population gap (different group)</a:t>
            </a:r>
          </a:p>
          <a:p>
            <a:r>
              <a:rPr lang="en-US" dirty="0"/>
              <a:t>Context gap (different location or setting)</a:t>
            </a:r>
          </a:p>
          <a:p>
            <a:r>
              <a:rPr lang="en-US" dirty="0"/>
              <a:t>Methodological gap (different method)</a:t>
            </a:r>
          </a:p>
          <a:p>
            <a:r>
              <a:rPr lang="en-US" dirty="0"/>
              <a:t>Time gap (updated data)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Most studies focus on </a:t>
            </a:r>
            <a:r>
              <a:rPr lang="en-US" b="1" dirty="0"/>
              <a:t>private schools</a:t>
            </a:r>
            <a:r>
              <a:rPr lang="en-US" dirty="0"/>
              <a:t>, but not public ones.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Research Problem Example: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Limited research on digital literacy of ICT students in public senior high schools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502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BD12-201E-7EE9-17E6-9AF9F4DC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DD40-40C7-CF38-17F2-686FD056D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IV. Societal and Community Problems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dirty="0"/>
              <a:t>Social, educational, technological, or environmental issues can be strong research problem sources.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Why important</a:t>
            </a:r>
          </a:p>
          <a:p>
            <a:r>
              <a:rPr lang="en-US" dirty="0"/>
              <a:t>High relevance</a:t>
            </a:r>
          </a:p>
          <a:p>
            <a:r>
              <a:rPr lang="en-US" dirty="0"/>
              <a:t>Practical impact</a:t>
            </a:r>
          </a:p>
          <a:p>
            <a:r>
              <a:rPr lang="en-US" dirty="0"/>
              <a:t>Supports national or institutional goals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Digital divide</a:t>
            </a:r>
          </a:p>
          <a:p>
            <a:r>
              <a:rPr lang="en-US" dirty="0"/>
              <a:t>Cybersecurity threats</a:t>
            </a:r>
          </a:p>
          <a:p>
            <a:r>
              <a:rPr lang="en-US" dirty="0"/>
              <a:t>Lack of access to technology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Research Problem Example: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Inadequate access to ICT resources among rural senior high schools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1665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D256-10D0-27A0-3DDC-4CD63426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867CE-EE79-5191-6D2F-52D3C6592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V. Institutional Needs and Organizational Issues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dirty="0"/>
              <a:t>Problems may originate from </a:t>
            </a:r>
            <a:r>
              <a:rPr lang="en-US" b="1" dirty="0"/>
              <a:t>schools, companies, or agencies</a:t>
            </a:r>
            <a:r>
              <a:rPr lang="en-US" dirty="0"/>
              <a:t> that need improvement.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Common Sources</a:t>
            </a:r>
          </a:p>
          <a:p>
            <a:r>
              <a:rPr lang="en-US" dirty="0"/>
              <a:t>School improvement plans</a:t>
            </a:r>
          </a:p>
          <a:p>
            <a:r>
              <a:rPr lang="en-US" dirty="0"/>
              <a:t>Performance reports</a:t>
            </a:r>
          </a:p>
          <a:p>
            <a:r>
              <a:rPr lang="en-US" dirty="0"/>
              <a:t>Accreditation requirements</a:t>
            </a:r>
          </a:p>
          <a:p>
            <a:r>
              <a:rPr lang="en-US" dirty="0"/>
              <a:t>Policy evaluations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A school needs to improve </a:t>
            </a:r>
            <a:r>
              <a:rPr lang="en-US" b="1" dirty="0"/>
              <a:t>record management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Research Problem Example: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Inefficiency of manual student record systems in public senior high schools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7066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23E79-7188-6217-1BC6-35E414B44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DC81-3AEA-0665-E1B4-12B44AD9B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VI. Technological Advancements and Innovations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New technologies often create </a:t>
            </a:r>
            <a:r>
              <a:rPr lang="en-US" sz="2400" b="1" dirty="0"/>
              <a:t>new problems or opportunities</a:t>
            </a:r>
            <a:r>
              <a:rPr lang="en-US" sz="2400" dirty="0"/>
              <a:t> that require research.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2400" dirty="0"/>
              <a:t>AI in education</a:t>
            </a:r>
          </a:p>
          <a:p>
            <a:r>
              <a:rPr lang="en-US" sz="2400" dirty="0"/>
              <a:t>Cloud computing</a:t>
            </a:r>
          </a:p>
          <a:p>
            <a:r>
              <a:rPr lang="en-US" sz="2400" dirty="0"/>
              <a:t>Learning management systems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Research Problem 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Teachers’ readiness in using generative AI tools for classroom instruction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70501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D73C9-7EA4-C7DB-DDFD-D792F338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B6885-A739-431C-6D06-C6BAAA05D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VII. Government Policies, Programs, and Reforms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Problems may come from </a:t>
            </a:r>
            <a:r>
              <a:rPr lang="en-US" sz="2400" b="1" dirty="0"/>
              <a:t>new laws, policies, or educational reforms</a:t>
            </a:r>
            <a:r>
              <a:rPr lang="en-US" sz="2400" dirty="0"/>
              <a:t> that need evaluation.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2400" dirty="0"/>
              <a:t>Curriculum changes</a:t>
            </a:r>
          </a:p>
          <a:p>
            <a:r>
              <a:rPr lang="en-US" sz="2400" dirty="0"/>
              <a:t>ICT integration policies</a:t>
            </a:r>
          </a:p>
          <a:p>
            <a:r>
              <a:rPr lang="en-US" sz="2400" dirty="0"/>
              <a:t>Digital transformation programs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Research Problem 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Effectiveness of ICT integration policies in improving teaching performance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46357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A6BC-DF26-144C-6C2F-26418136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8597-9831-2DFE-BEF3-3B09C765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VIII. Consultation with Experts and Stakeholders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Research problems can be identified through </a:t>
            </a:r>
            <a:r>
              <a:rPr lang="en-US" sz="2400" b="1" dirty="0"/>
              <a:t>discussions with experts, administrators, teachers, or industry partners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Why useful</a:t>
            </a:r>
          </a:p>
          <a:p>
            <a:r>
              <a:rPr lang="en-US" sz="2400" dirty="0"/>
              <a:t>Validates relevance</a:t>
            </a:r>
          </a:p>
          <a:p>
            <a:r>
              <a:rPr lang="en-US" sz="2400" dirty="0"/>
              <a:t>Ensures feasibility</a:t>
            </a:r>
          </a:p>
          <a:p>
            <a:r>
              <a:rPr lang="en-US" sz="2400" dirty="0"/>
              <a:t>Aligns with real needs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2400" dirty="0"/>
              <a:t>Industry partners report that graduates </a:t>
            </a:r>
            <a:r>
              <a:rPr lang="en-US" sz="2400" b="1" dirty="0"/>
              <a:t>lack practical skills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Research Problem 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Mismatch between ICT curriculum and industry skill requirements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7740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09BF-007E-3B22-17D3-ECB28389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5153-7621-7408-AA19-44B8499E0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097280"/>
            <a:ext cx="10691265" cy="509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IX. Observation and Field Exposure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Direct observation of environments, behaviors, or processes can reveal hidden problems.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2400" dirty="0"/>
              <a:t>Students struggle with hands-on activities</a:t>
            </a:r>
          </a:p>
          <a:p>
            <a:r>
              <a:rPr lang="en-US" sz="2400" dirty="0"/>
              <a:t>Labs are underutilized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Research Problem Example: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i="1" dirty="0"/>
              <a:t>Low utilization of computer laboratory facilities in public senior high schools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2765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87005-3E75-3B0D-40C4-51FE07B5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B2C2C67-C2B5-37DA-CF6A-DDFE6976B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400" b="1" i="0" u="none" strike="noStrike" cap="all" spc="30" normalizeH="0" dirty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X. Summary Table: Sources of Research Problems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12585F9-1EA7-E48C-4956-7D5598EC7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8615181"/>
              </p:ext>
            </p:extLst>
          </p:nvPr>
        </p:nvGraphicFramePr>
        <p:xfrm>
          <a:off x="1039205" y="2222500"/>
          <a:ext cx="10013580" cy="3740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13067">
                  <a:extLst>
                    <a:ext uri="{9D8B030D-6E8A-4147-A177-3AD203B41FA5}">
                      <a16:colId xmlns:a16="http://schemas.microsoft.com/office/drawing/2014/main" val="91647236"/>
                    </a:ext>
                  </a:extLst>
                </a:gridCol>
                <a:gridCol w="3387446">
                  <a:extLst>
                    <a:ext uri="{9D8B030D-6E8A-4147-A177-3AD203B41FA5}">
                      <a16:colId xmlns:a16="http://schemas.microsoft.com/office/drawing/2014/main" val="189909745"/>
                    </a:ext>
                  </a:extLst>
                </a:gridCol>
                <a:gridCol w="3313067">
                  <a:extLst>
                    <a:ext uri="{9D8B030D-6E8A-4147-A177-3AD203B41FA5}">
                      <a16:colId xmlns:a16="http://schemas.microsoft.com/office/drawing/2014/main" val="2926611975"/>
                    </a:ext>
                  </a:extLst>
                </a:gridCol>
              </a:tblGrid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Source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Description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Sample Problem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2574451041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Personal Experience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Issues encountered by researcher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Low student engagement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290987555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Literature Review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Limitations and recommendations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Lack of AI studies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1490980248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Research Gaps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Unexplored areas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Public vs private schools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2824076383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Societal Issues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Community-level problems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Digital divide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2327758579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Institutional Needs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Organizational challenges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Manual record systems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974023084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Technology Trends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Emerging tools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AI readiness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1630157221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Policies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Program evaluation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ICT policy effectiveness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492220264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Experts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Professional insights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Skill mismatch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1411864795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Observation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/>
                        <a:t>Field-based issues</a:t>
                      </a:r>
                    </a:p>
                  </a:txBody>
                  <a:tcPr marL="85003" marR="85003" marT="42502" marB="425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1700" dirty="0"/>
                        <a:t>Underused labs</a:t>
                      </a:r>
                    </a:p>
                  </a:txBody>
                  <a:tcPr marL="85003" marR="85003" marT="42502" marB="42502" anchor="ctr"/>
                </a:tc>
                <a:extLst>
                  <a:ext uri="{0D108BD9-81ED-4DB2-BD59-A6C34878D82A}">
                    <a16:rowId xmlns:a16="http://schemas.microsoft.com/office/drawing/2014/main" val="3249892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281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EE582-1243-61D8-3F72-A1DF7D37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306715C-48AE-6DC2-9897-0D57E0219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E8B108D-BA6C-890E-1114-EBAAAAB1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Assessing the 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3A4783-C0EE-6970-25AF-F859B2BC8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01CF0C-065A-5E69-3252-525B6B6E1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8FFD9-1FAB-C928-804A-360E8958E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595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* A </a:t>
            </a:r>
            <a:r>
              <a:rPr lang="en-US" sz="2800" b="1" dirty="0"/>
              <a:t>research problem</a:t>
            </a:r>
            <a:r>
              <a:rPr lang="en-US" sz="2800" dirty="0"/>
              <a:t> is the foundation of any study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9BEF5E-5ACC-F63D-D505-F35E46AEA660}"/>
              </a:ext>
            </a:extLst>
          </p:cNvPr>
          <p:cNvSpPr txBox="1">
            <a:spLocks/>
          </p:cNvSpPr>
          <p:nvPr/>
        </p:nvSpPr>
        <p:spPr>
          <a:xfrm>
            <a:off x="700635" y="2973827"/>
            <a:ext cx="10691265" cy="5950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* A </a:t>
            </a:r>
            <a:r>
              <a:rPr lang="en-US" sz="2800" b="1" dirty="0"/>
              <a:t>poorly stated problem</a:t>
            </a:r>
            <a:r>
              <a:rPr lang="en-US" sz="2800" dirty="0"/>
              <a:t> leads to weak methodology, invalid results, and an unsuccessful research output.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CBAE0B-495F-6E0F-3BEF-17956B032F5C}"/>
              </a:ext>
            </a:extLst>
          </p:cNvPr>
          <p:cNvSpPr txBox="1">
            <a:spLocks/>
          </p:cNvSpPr>
          <p:nvPr/>
        </p:nvSpPr>
        <p:spPr>
          <a:xfrm>
            <a:off x="700635" y="4044012"/>
            <a:ext cx="10691265" cy="5950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* Therefore, a good research problem must meet specific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329954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4" grpId="0"/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0BA0B-4F0F-A1F3-9532-2B45E25A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5CA6F7-A1B4-B166-9005-B8E33E252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966C86A-A6F2-724A-CC0A-1FD3549B9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850962-1605-609F-512F-8FB76B919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CE5065-AE0A-C6A9-306E-8AE4E665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E1B85-364C-D233-7C73-6AE444973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8452"/>
            <a:ext cx="106912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I. Clear and Unambiguous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1800" dirty="0"/>
              <a:t>The problem must be </a:t>
            </a:r>
            <a:r>
              <a:rPr lang="en-US" sz="1800" b="1" dirty="0"/>
              <a:t>clearly stated</a:t>
            </a:r>
            <a:r>
              <a:rPr lang="en-US" sz="1800" dirty="0"/>
              <a:t> and easy to understand. It should not be vague or confusing.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sz="1800" dirty="0"/>
              <a:t>Is the problem easy to understand?</a:t>
            </a:r>
          </a:p>
          <a:p>
            <a:r>
              <a:rPr lang="en-US" sz="1800" dirty="0"/>
              <a:t>Are the key terms defined?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Poor Example</a:t>
            </a:r>
          </a:p>
          <a:p>
            <a:r>
              <a:rPr lang="en-US" sz="1800" i="1" dirty="0"/>
              <a:t>Students have problems in ICT.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Improved Example</a:t>
            </a:r>
          </a:p>
          <a:p>
            <a:r>
              <a:rPr lang="en-US" sz="1800" i="1" dirty="0"/>
              <a:t>ICT students experience difficulties in configuring computer networks during laboratory sessions.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5545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A2290-633F-0CF2-63F9-AB6AED03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4A82AA-19CE-4020-5E47-6B0C5020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1A4579-4D4E-0F26-E2D5-B07599327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342C75-437F-D98B-5B64-664CD360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4D1AFD-1DFB-74D9-C3D6-503AC59C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6ED5-EA77-154C-C8B0-60BA88D2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8452"/>
            <a:ext cx="106912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II. Researchable and Measurable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1800" dirty="0"/>
              <a:t>The problem must be </a:t>
            </a:r>
            <a:r>
              <a:rPr lang="en-US" sz="1800" b="1" dirty="0"/>
              <a:t>investigated using data</a:t>
            </a:r>
            <a:r>
              <a:rPr lang="en-US" sz="1800" dirty="0"/>
              <a:t>, not opinions or assumptions.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sz="1800" dirty="0"/>
              <a:t>Can data be collected?</a:t>
            </a:r>
          </a:p>
          <a:p>
            <a:r>
              <a:rPr lang="en-US" sz="1800" dirty="0"/>
              <a:t>Can the variables be measured?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Not Researchable</a:t>
            </a:r>
          </a:p>
          <a:p>
            <a:r>
              <a:rPr lang="en-US" sz="1800" i="1" dirty="0"/>
              <a:t>Why are some teachers lazy in using technology?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Researchable</a:t>
            </a:r>
          </a:p>
          <a:p>
            <a:r>
              <a:rPr lang="en-US" sz="1800" i="1" dirty="0"/>
              <a:t>Factors affecting teachers’ use of educational technology in public senior high schools.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879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D019D-EB2E-B704-EF1A-71BCD818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781A35E-E2F4-3179-D07E-6754EBF63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7A69CFF-2FD8-F1C7-DA0C-8B8736B08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874E56-8AE5-B0C0-08DE-9F308513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34C52C-0311-B544-732B-484D43DA5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C16C-FF1F-3703-43BA-AE31EA5F6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8452"/>
            <a:ext cx="106912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III. Significant and Relevant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pPr marL="0" indent="0">
              <a:buNone/>
            </a:pPr>
            <a:r>
              <a:rPr lang="en-US" sz="2400" dirty="0"/>
              <a:t>A good research problem must </a:t>
            </a:r>
          </a:p>
          <a:p>
            <a:pPr marL="0" indent="0">
              <a:buNone/>
            </a:pPr>
            <a:r>
              <a:rPr lang="en-US" sz="2400" dirty="0"/>
              <a:t>have </a:t>
            </a:r>
            <a:r>
              <a:rPr lang="en-US" sz="2400" b="1" dirty="0"/>
              <a:t>importance</a:t>
            </a:r>
            <a:r>
              <a:rPr lang="en-US" sz="2400" dirty="0"/>
              <a:t> to:</a:t>
            </a:r>
          </a:p>
          <a:p>
            <a:r>
              <a:rPr lang="en-US" sz="2400" dirty="0"/>
              <a:t>the field of study,</a:t>
            </a:r>
          </a:p>
          <a:p>
            <a:r>
              <a:rPr lang="en-US" sz="2400" dirty="0"/>
              <a:t>the institution,</a:t>
            </a:r>
          </a:p>
          <a:p>
            <a:r>
              <a:rPr lang="en-US" sz="2400" dirty="0"/>
              <a:t>society, or</a:t>
            </a:r>
          </a:p>
          <a:p>
            <a:r>
              <a:rPr lang="en-US" sz="2400" dirty="0"/>
              <a:t>future researchers.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C51497-0F15-064E-3DEB-6441F1C62797}"/>
              </a:ext>
            </a:extLst>
          </p:cNvPr>
          <p:cNvSpPr txBox="1">
            <a:spLocks/>
          </p:cNvSpPr>
          <p:nvPr/>
        </p:nvSpPr>
        <p:spPr>
          <a:xfrm>
            <a:off x="6045994" y="1874933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sz="2400" dirty="0"/>
              <a:t>Who will benefit from this study?</a:t>
            </a:r>
          </a:p>
          <a:p>
            <a:r>
              <a:rPr lang="en-US" sz="2400" dirty="0"/>
              <a:t>Will this contribute to knowledge or practice?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sz="2400" i="1" dirty="0"/>
              <a:t>Effectiveness of online learning platforms in improving ICT students’ performance</a:t>
            </a:r>
            <a:endParaRPr lang="en-US" sz="2400" dirty="0"/>
          </a:p>
          <a:p>
            <a:r>
              <a:rPr lang="en-US" sz="2400" dirty="0"/>
              <a:t>📌 Relevant to education, ICT, and policy improvement.</a:t>
            </a:r>
          </a:p>
        </p:txBody>
      </p:sp>
    </p:spTree>
    <p:extLst>
      <p:ext uri="{BB962C8B-B14F-4D97-AF65-F5344CB8AC3E}">
        <p14:creationId xmlns:p14="http://schemas.microsoft.com/office/powerpoint/2010/main" val="35941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DD96C-3BD4-7812-449A-2C4F92BA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8A0466-2423-2651-6724-80F7B3EFC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3356F69-C6E8-56E3-73BF-39E0D2AE1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631FA7-5DBB-146E-AE20-0772FFFDB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30F891-0F7D-2A6A-72F1-52D93EBFB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D57FB-13D7-FFC1-A5F9-DD65E4283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8452"/>
            <a:ext cx="106912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IV. Feasible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pPr marL="0" indent="0">
              <a:buNone/>
            </a:pPr>
            <a:r>
              <a:rPr lang="en-US" sz="2400" dirty="0"/>
              <a:t>The problem must be </a:t>
            </a:r>
            <a:r>
              <a:rPr lang="en-US" sz="2400" b="1" dirty="0"/>
              <a:t>realistic</a:t>
            </a:r>
            <a:r>
              <a:rPr lang="en-US" sz="2400" dirty="0"/>
              <a:t> considering:</a:t>
            </a:r>
          </a:p>
          <a:p>
            <a:r>
              <a:rPr lang="en-US" sz="2400" dirty="0"/>
              <a:t>time,</a:t>
            </a:r>
          </a:p>
          <a:p>
            <a:r>
              <a:rPr lang="en-US" sz="2400" dirty="0"/>
              <a:t>resources,</a:t>
            </a:r>
          </a:p>
          <a:p>
            <a:r>
              <a:rPr lang="en-US" sz="2400" dirty="0"/>
              <a:t>budget,</a:t>
            </a:r>
          </a:p>
          <a:p>
            <a:r>
              <a:rPr lang="en-US" sz="2400" dirty="0"/>
              <a:t>access to respondents,</a:t>
            </a:r>
          </a:p>
          <a:p>
            <a:r>
              <a:rPr lang="en-US" sz="2400" dirty="0"/>
              <a:t>researcher’s skills.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A7E4DF5-31D8-7979-BEE0-7DDCF9D05EAF}"/>
              </a:ext>
            </a:extLst>
          </p:cNvPr>
          <p:cNvSpPr txBox="1">
            <a:spLocks/>
          </p:cNvSpPr>
          <p:nvPr/>
        </p:nvSpPr>
        <p:spPr>
          <a:xfrm>
            <a:off x="6045994" y="1874933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sz="2200" dirty="0"/>
              <a:t>Can this be completed within the given time?</a:t>
            </a:r>
          </a:p>
          <a:p>
            <a:r>
              <a:rPr lang="en-US" sz="2200" dirty="0"/>
              <a:t>Are the needed tools and data available?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Not Feasible</a:t>
            </a:r>
          </a:p>
          <a:p>
            <a:r>
              <a:rPr lang="en-US" sz="2200" i="1" dirty="0"/>
              <a:t>A nationwide study on AI readiness of all teachers in the Philippines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Feasible</a:t>
            </a:r>
          </a:p>
          <a:p>
            <a:r>
              <a:rPr lang="en-US" sz="2200" i="1" dirty="0"/>
              <a:t>AI readiness of ICT teachers in Talavera District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3602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5E6C8-81D4-D6FF-E8CC-6C796621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F99D68-84A4-B570-AC80-03180AA3B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B8E1730-B444-1509-A649-CA97FCD85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C63585-8C0F-8DB2-5E60-A86ADE9FD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8CF356-76C7-E6C5-A9CD-63D9DE0D2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F5AC9-A7E0-96B0-850D-9BC2AA15E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8452"/>
            <a:ext cx="53953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V. Ethical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The research problem must not harm participants and must respect:</a:t>
            </a:r>
          </a:p>
          <a:p>
            <a:r>
              <a:rPr lang="en-US" sz="2400" dirty="0"/>
              <a:t>privacy,</a:t>
            </a:r>
          </a:p>
          <a:p>
            <a:r>
              <a:rPr lang="en-US" sz="2400" dirty="0"/>
              <a:t>consent,</a:t>
            </a:r>
          </a:p>
          <a:p>
            <a:r>
              <a:rPr lang="en-US" sz="2400" dirty="0"/>
              <a:t>confidentiality,</a:t>
            </a:r>
          </a:p>
          <a:p>
            <a:r>
              <a:rPr lang="en-US" sz="2400" dirty="0"/>
              <a:t>institutional ethics.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FE0ED6-BA8F-0393-B4BC-D0DBD5889881}"/>
              </a:ext>
            </a:extLst>
          </p:cNvPr>
          <p:cNvSpPr txBox="1">
            <a:spLocks/>
          </p:cNvSpPr>
          <p:nvPr/>
        </p:nvSpPr>
        <p:spPr>
          <a:xfrm>
            <a:off x="6045994" y="1874933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dirty="0"/>
              <a:t>Does the study respect human rights?</a:t>
            </a:r>
          </a:p>
          <a:p>
            <a:r>
              <a:rPr lang="en-US" dirty="0"/>
              <a:t>Are ethical risks manageable?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Ethical Issue Example</a:t>
            </a:r>
          </a:p>
          <a:p>
            <a:r>
              <a:rPr lang="en-US" dirty="0"/>
              <a:t>Research involving students without parental consent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Ethical Version</a:t>
            </a:r>
          </a:p>
          <a:p>
            <a:r>
              <a:rPr lang="en-US" dirty="0"/>
              <a:t>Research conducted with proper consent and anonymity</a:t>
            </a:r>
          </a:p>
        </p:txBody>
      </p:sp>
    </p:spTree>
    <p:extLst>
      <p:ext uri="{BB962C8B-B14F-4D97-AF65-F5344CB8AC3E}">
        <p14:creationId xmlns:p14="http://schemas.microsoft.com/office/powerpoint/2010/main" val="221436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B0262-8B14-8D0C-E303-873BB549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D480E6-3065-BECB-5802-5DB228EB2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9553A5A-C028-9D67-07A8-7B0F30F9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55996F-D45A-0335-DAF5-5DBDE446E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FC5DB9-E4F3-36F7-A327-04D9363B6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618DB-184B-38B5-5D9A-A21D0F9A9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8452"/>
            <a:ext cx="53953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VI. Focused and Specific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A good research problem is </a:t>
            </a:r>
            <a:r>
              <a:rPr lang="en-US" sz="2400" b="1" dirty="0"/>
              <a:t>narrow enough</a:t>
            </a:r>
            <a:r>
              <a:rPr lang="en-US" sz="2400" dirty="0"/>
              <a:t> to be manageable but </a:t>
            </a:r>
            <a:r>
              <a:rPr lang="en-US" sz="2400" b="1" dirty="0"/>
              <a:t>broad enough</a:t>
            </a:r>
            <a:r>
              <a:rPr lang="en-US" sz="2400" dirty="0"/>
              <a:t> to be meaningful.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sz="2400" dirty="0"/>
              <a:t>Is the scope too wide?</a:t>
            </a:r>
          </a:p>
          <a:p>
            <a:r>
              <a:rPr lang="en-US" sz="2400" dirty="0"/>
              <a:t>Is the target group clearly identified?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8529E-EBDE-D42F-C9EE-C38D35B08E2F}"/>
              </a:ext>
            </a:extLst>
          </p:cNvPr>
          <p:cNvSpPr txBox="1">
            <a:spLocks/>
          </p:cNvSpPr>
          <p:nvPr/>
        </p:nvSpPr>
        <p:spPr>
          <a:xfrm>
            <a:off x="6045994" y="1874933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Too Broad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Problems of ICT </a:t>
            </a:r>
            <a:r>
              <a:rPr lang="en-US" i="1" dirty="0"/>
              <a:t>education in the Philippines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Focused</a:t>
            </a:r>
          </a:p>
          <a:p>
            <a:r>
              <a:rPr lang="en-US" i="1" dirty="0"/>
              <a:t>Challenges faced by Grade 12 ICT students in learning computer networking in Talavera Senior High School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48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BA291-6722-E96B-419F-F248BF1A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A2706B6-579A-75B3-2CFC-0550E2DCF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84E52E-4AD1-427C-CEE8-97A5FECF9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F45442-34A4-ECBF-B417-9C3FF0961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03C353-01CC-5660-A76D-3112C8F96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3E56E-25A7-E512-2628-EA346279B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28" y="2313343"/>
            <a:ext cx="53953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VII. Novel or Addresses a Research Gap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The problem should offer </a:t>
            </a:r>
            <a:r>
              <a:rPr lang="en-US" sz="2400" b="1" dirty="0"/>
              <a:t>new insights</a:t>
            </a:r>
            <a:r>
              <a:rPr lang="en-US" sz="2400" dirty="0"/>
              <a:t>, apply existing knowledge in a new context, or address a </a:t>
            </a:r>
            <a:r>
              <a:rPr lang="en-US" sz="2400" b="1" dirty="0"/>
              <a:t>research gap</a:t>
            </a:r>
            <a:r>
              <a:rPr lang="en-US" sz="2400" dirty="0"/>
              <a:t>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BE3B0C-8A76-C938-AAD1-D709DCF24A7F}"/>
              </a:ext>
            </a:extLst>
          </p:cNvPr>
          <p:cNvSpPr txBox="1">
            <a:spLocks/>
          </p:cNvSpPr>
          <p:nvPr/>
        </p:nvSpPr>
        <p:spPr>
          <a:xfrm>
            <a:off x="6045993" y="2231100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dirty="0"/>
              <a:t>Has this been studied before?</a:t>
            </a:r>
          </a:p>
          <a:p>
            <a:r>
              <a:rPr lang="en-US" dirty="0"/>
              <a:t>What makes this study different?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i="1" dirty="0"/>
              <a:t>Use of generative AI tools in teaching ICT in public senior high schools</a:t>
            </a:r>
            <a:endParaRPr lang="en-US" dirty="0"/>
          </a:p>
          <a:p>
            <a:r>
              <a:rPr lang="en-US" dirty="0"/>
              <a:t>📌 New technology + specific context = novelty.</a:t>
            </a:r>
          </a:p>
        </p:txBody>
      </p:sp>
    </p:spTree>
    <p:extLst>
      <p:ext uri="{BB962C8B-B14F-4D97-AF65-F5344CB8AC3E}">
        <p14:creationId xmlns:p14="http://schemas.microsoft.com/office/powerpoint/2010/main" val="385149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DFA95-AEDB-316E-225E-4AB921F3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5B51E3-F0B6-B37E-0635-B640D99F8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CE3682-4B34-3D92-0B23-478DC8FA0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050D06-F028-A8AB-51BA-C9B4753C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7C6674-44C5-A6FF-1CFE-D9305E646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EB1A-7A22-B8FF-B3B5-F572EFCD7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28" y="2313343"/>
            <a:ext cx="53953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VIII. Aligned with the Researcher’s Field and Competence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The problem must match the researcher’s </a:t>
            </a:r>
            <a:r>
              <a:rPr lang="en-US" sz="2400" b="1" dirty="0"/>
              <a:t>academic background and skills</a:t>
            </a:r>
            <a:r>
              <a:rPr lang="en-US" sz="2400" dirty="0"/>
              <a:t>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EF8324-946B-52F8-3E33-BD9C8F8AFC84}"/>
              </a:ext>
            </a:extLst>
          </p:cNvPr>
          <p:cNvSpPr txBox="1">
            <a:spLocks/>
          </p:cNvSpPr>
          <p:nvPr/>
        </p:nvSpPr>
        <p:spPr>
          <a:xfrm>
            <a:off x="6045993" y="2231100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Guiding Questions</a:t>
            </a:r>
          </a:p>
          <a:p>
            <a:r>
              <a:rPr lang="en-US" dirty="0"/>
              <a:t>Do I have enough knowledge to conduct this study?</a:t>
            </a:r>
          </a:p>
          <a:p>
            <a:r>
              <a:rPr lang="en-US" dirty="0"/>
              <a:t>Does this align with my program?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r>
              <a:rPr lang="en-US" dirty="0"/>
              <a:t>ICT students researching network security rather than medical diagnostics</a:t>
            </a:r>
          </a:p>
        </p:txBody>
      </p:sp>
    </p:spTree>
    <p:extLst>
      <p:ext uri="{BB962C8B-B14F-4D97-AF65-F5344CB8AC3E}">
        <p14:creationId xmlns:p14="http://schemas.microsoft.com/office/powerpoint/2010/main" val="15771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1EA26-2CC9-C049-C280-0813EA10B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58BBA2-E277-20E0-B02F-AB32D6DE8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1B9BF01-90B4-C9C5-514E-69F5E8380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" y="909638"/>
            <a:ext cx="10691813" cy="1155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lvl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0000"/>
                </a:solidFill>
              </a:rPr>
              <a:t>Characteristics of a Good Research Problem</a:t>
            </a:r>
            <a:endParaRPr kumimoji="0" lang="en-US" altLang="en-US" sz="5400" b="0" i="0" u="none" strike="noStrike" cap="all" spc="30" normalizeH="0" dirty="0">
              <a:ln>
                <a:noFill/>
              </a:ln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5EE5EB-8A27-8179-7DDA-223084B6B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BE6FE8-B548-DD0A-96AD-A7D80AFF4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D8C10-1A90-2510-7D18-AD0C14DB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28" y="2313343"/>
            <a:ext cx="5395365" cy="898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IX. Leads to Clear Research Objectives and Questions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Description</a:t>
            </a:r>
          </a:p>
          <a:p>
            <a:r>
              <a:rPr lang="en-US" sz="2400" dirty="0"/>
              <a:t>A good research problem naturally leads to:</a:t>
            </a:r>
          </a:p>
          <a:p>
            <a:r>
              <a:rPr lang="en-US" sz="2400" dirty="0"/>
              <a:t>clear objectives,</a:t>
            </a:r>
          </a:p>
          <a:p>
            <a:r>
              <a:rPr lang="en-US" sz="2400" dirty="0"/>
              <a:t>research questions,</a:t>
            </a:r>
          </a:p>
          <a:p>
            <a:r>
              <a:rPr lang="en-US" sz="2400" dirty="0"/>
              <a:t>testable hypotheses.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B52DB1-651A-A0D3-EE53-CBA1A87474CC}"/>
              </a:ext>
            </a:extLst>
          </p:cNvPr>
          <p:cNvSpPr txBox="1">
            <a:spLocks/>
          </p:cNvSpPr>
          <p:nvPr/>
        </p:nvSpPr>
        <p:spPr>
          <a:xfrm>
            <a:off x="6045993" y="2231100"/>
            <a:ext cx="6045994" cy="898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Research Problem: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Low performance of ICT students in computer networking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Derived Objective: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To determine the factors affecting ICT students’ performance in computer networking.</a:t>
            </a:r>
          </a:p>
        </p:txBody>
      </p:sp>
    </p:spTree>
    <p:extLst>
      <p:ext uri="{BB962C8B-B14F-4D97-AF65-F5344CB8AC3E}">
        <p14:creationId xmlns:p14="http://schemas.microsoft.com/office/powerpoint/2010/main" val="375646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/>
      <p:bldP spid="3" grpId="0" build="p"/>
      <p:bldP spid="2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442F9-F6DD-26EC-C903-C0BF5A2D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DFA4E5B-0FD4-ABCA-1A86-01FD4E3DF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078BFB-DF07-F6E7-E953-AFE3F48F6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9AB61C-CDE7-A992-35F4-7FB6FE9CA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628AC3-F889-5DD4-7493-A916783603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7608317"/>
              </p:ext>
            </p:extLst>
          </p:nvPr>
        </p:nvGraphicFramePr>
        <p:xfrm>
          <a:off x="1230820" y="1462480"/>
          <a:ext cx="10691812" cy="4572000"/>
        </p:xfrm>
        <a:graphic>
          <a:graphicData uri="http://schemas.openxmlformats.org/drawingml/2006/table">
            <a:tbl>
              <a:tblPr/>
              <a:tblGrid>
                <a:gridCol w="5345906">
                  <a:extLst>
                    <a:ext uri="{9D8B030D-6E8A-4147-A177-3AD203B41FA5}">
                      <a16:colId xmlns:a16="http://schemas.microsoft.com/office/drawing/2014/main" val="2992036568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221476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Characteristic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Key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770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Clear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Is it easy to understand?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Researchable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Can data answer 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636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Significant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Does it matter?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373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Feasible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Can it be done?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2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Ethical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Is it morally acceptable?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684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Is the scope manageable?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47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Novel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Does it add value?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/>
                        <a:t>Aligned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Does it fit the field?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1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dirty="0"/>
                        <a:t>Objective-driven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sz="2400" dirty="0"/>
                        <a:t>Can objectives be derived?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85660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10533A2-BE8D-B192-C792-4C04FE867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715218"/>
            <a:ext cx="11122532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X. Summary Table: Characteristics of a Good Research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80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5FAC7-1B9A-6A2D-6699-9C854810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C71CD83-782E-CCCB-7BB9-B56313FC1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028E1E-0DA0-DE45-0AAF-C0318B358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313A6E-9ED6-A4CA-F986-4813888CD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7B5CEF77-3CA2-AB56-CB7C-7092D1324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930662"/>
            <a:ext cx="630723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Takeaway for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BAE0-0E6F-6101-BBF3-511A634D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A good research problem is not just interesting—it is clear, researchable, significant, feasible, and ethical.</a:t>
            </a:r>
            <a:endParaRPr lang="en-US" sz="5400" dirty="0"/>
          </a:p>
          <a:p>
            <a:pPr algn="ctr"/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1848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AB49C824F4DD48B84E7E33F80B9B91" ma:contentTypeVersion="14" ma:contentTypeDescription="Create a new document." ma:contentTypeScope="" ma:versionID="dae3475b80dfb76ff3a58df4a8d5b809">
  <xsd:schema xmlns:xsd="http://www.w3.org/2001/XMLSchema" xmlns:xs="http://www.w3.org/2001/XMLSchema" xmlns:p="http://schemas.microsoft.com/office/2006/metadata/properties" xmlns:ns3="546f70b6-842b-4b5e-99cb-cf3af2c3c19f" targetNamespace="http://schemas.microsoft.com/office/2006/metadata/properties" ma:root="true" ma:fieldsID="f5fe6203e9e2b5e8a2da1889f36fbeb7" ns3:_="">
    <xsd:import namespace="546f70b6-842b-4b5e-99cb-cf3af2c3c19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MediaServiceSearchPropertie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f70b6-842b-4b5e-99cb-cf3af2c3c19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46f70b6-842b-4b5e-99cb-cf3af2c3c19f" xsi:nil="true"/>
  </documentManagement>
</p:properties>
</file>

<file path=customXml/itemProps1.xml><?xml version="1.0" encoding="utf-8"?>
<ds:datastoreItem xmlns:ds="http://schemas.openxmlformats.org/officeDocument/2006/customXml" ds:itemID="{799F4F49-BD4C-4D90-AE30-34B1632DF1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6f70b6-842b-4b5e-99cb-cf3af2c3c1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48A050-0041-4E15-9B25-ED4035973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831BC8-138C-4AEB-81B6-3B526AF3548D}">
  <ds:schemaRefs>
    <ds:schemaRef ds:uri="546f70b6-842b-4b5e-99cb-cf3af2c3c19f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2903</Words>
  <Application>Microsoft Office PowerPoint</Application>
  <PresentationFormat>Widescreen</PresentationFormat>
  <Paragraphs>466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Calisto MT</vt:lpstr>
      <vt:lpstr>Univers Condensed</vt:lpstr>
      <vt:lpstr>ChronicleVTI</vt:lpstr>
      <vt:lpstr>Basic and Fundamental Concepts of Capstone Project and Research</vt:lpstr>
      <vt:lpstr>Definition of research</vt:lpstr>
      <vt:lpstr>What is research?</vt:lpstr>
      <vt:lpstr>research</vt:lpstr>
      <vt:lpstr>SYSTEMATIC</vt:lpstr>
      <vt:lpstr>OBJECTIVE</vt:lpstr>
      <vt:lpstr>SCIENTIFIC INVESTIGATION</vt:lpstr>
      <vt:lpstr>CONDUCTED</vt:lpstr>
      <vt:lpstr>TO DISCOVER NEW KNOWLEDGE</vt:lpstr>
      <vt:lpstr>VERIFY EXISTING KNOWLEDGE</vt:lpstr>
      <vt:lpstr>SOLVE PROBLEM</vt:lpstr>
      <vt:lpstr>BY COLLECTING DATA</vt:lpstr>
      <vt:lpstr>ANALYZING DATA</vt:lpstr>
      <vt:lpstr>INTERPRET DATA</vt:lpstr>
      <vt:lpstr>SUMMARY</vt:lpstr>
      <vt:lpstr>Key characteristics</vt:lpstr>
      <vt:lpstr>PowerPoint Presentation</vt:lpstr>
      <vt:lpstr>Main purpose of research</vt:lpstr>
      <vt:lpstr>PowerPoint Presentation</vt:lpstr>
      <vt:lpstr>example</vt:lpstr>
      <vt:lpstr>PowerPoint Presentation</vt:lpstr>
      <vt:lpstr>PowerPoint Presentation</vt:lpstr>
      <vt:lpstr>PowerPoint Presentation</vt:lpstr>
      <vt:lpstr>Definition </vt:lpstr>
      <vt:lpstr>What is a capstone project</vt:lpstr>
      <vt:lpstr>Key characteristics of a capstone project</vt:lpstr>
      <vt:lpstr>Main purpose of a capstone project</vt:lpstr>
      <vt:lpstr>PowerPoint Presentation</vt:lpstr>
      <vt:lpstr>PowerPoint Presentation</vt:lpstr>
      <vt:lpstr>In simple terms</vt:lpstr>
      <vt:lpstr>PowerPoint Presentation</vt:lpstr>
      <vt:lpstr>Relationship Between Research and Capstone Project</vt:lpstr>
      <vt:lpstr>Showing the difference clearly </vt:lpstr>
      <vt:lpstr>In simple ANALOGY</vt:lpstr>
      <vt:lpstr>Summary for Students</vt:lpstr>
      <vt:lpstr>Summary for Students</vt:lpstr>
      <vt:lpstr>KINDS OF RESEARCH BASED ON PURPOSE</vt:lpstr>
      <vt:lpstr>KINDS OF RESEARCH BASED ON PURPOSE</vt:lpstr>
      <vt:lpstr>KINDS OF RESEARCH BASED ON PURPOSE</vt:lpstr>
      <vt:lpstr>KINDS OF RESEARCH BY METHOD</vt:lpstr>
      <vt:lpstr>KINDS OF RESEARCH BY METHOD</vt:lpstr>
      <vt:lpstr>KINDS OF RESEARCH BY METHOD</vt:lpstr>
      <vt:lpstr>KINDS OF RESEARCH BASED ON TIME FRAME</vt:lpstr>
      <vt:lpstr>KINDS OF RESEARCH BASED ON NATURE OF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BERLIN RAMOS</dc:creator>
  <cp:lastModifiedBy>BERLIN RAMOS</cp:lastModifiedBy>
  <cp:revision>2</cp:revision>
  <dcterms:created xsi:type="dcterms:W3CDTF">2026-01-20T14:18:19Z</dcterms:created>
  <dcterms:modified xsi:type="dcterms:W3CDTF">2026-01-22T09:10:54Z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0x010100ADAB49C824F4DD48B84E7E33F80B9B91</vt:lpwstr>
  </property>
</Properties>
</file>