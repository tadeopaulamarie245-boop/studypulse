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2"/>
  </p:notesMasterIdLst>
  <p:sldIdLst>
    <p:sldId id="261" r:id="rId5"/>
    <p:sldId id="262" r:id="rId6"/>
    <p:sldId id="263" r:id="rId7"/>
    <p:sldId id="273" r:id="rId8"/>
    <p:sldId id="274" r:id="rId9"/>
    <p:sldId id="276" r:id="rId10"/>
    <p:sldId id="27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milo Villaviza" userId="22c251b4f86dcfe4" providerId="LiveId" clId="{80B6C848-EA3B-4792-89F6-6CF6DD754488}"/>
    <pc:docChg chg="modSld">
      <pc:chgData name="Camilo Villaviza" userId="22c251b4f86dcfe4" providerId="LiveId" clId="{80B6C848-EA3B-4792-89F6-6CF6DD754488}" dt="2024-03-04T10:26:37.893" v="0" actId="20577"/>
      <pc:docMkLst>
        <pc:docMk/>
      </pc:docMkLst>
      <pc:sldChg chg="modSp mod">
        <pc:chgData name="Camilo Villaviza" userId="22c251b4f86dcfe4" providerId="LiveId" clId="{80B6C848-EA3B-4792-89F6-6CF6DD754488}" dt="2024-03-04T10:26:37.893" v="0" actId="20577"/>
        <pc:sldMkLst>
          <pc:docMk/>
          <pc:sldMk cId="230670385" sldId="274"/>
        </pc:sldMkLst>
      </pc:sldChg>
    </pc:docChg>
  </pc:docChgLst>
  <pc:docChgLst>
    <pc:chgData name="Camilo Villaviza" userId="22c251b4f86dcfe4" providerId="LiveId" clId="{A4AC076E-8B82-478F-8FC7-009DE69D5976}"/>
    <pc:docChg chg="custSel modSld">
      <pc:chgData name="Camilo Villaviza" userId="22c251b4f86dcfe4" providerId="LiveId" clId="{A4AC076E-8B82-478F-8FC7-009DE69D5976}" dt="2025-02-24T01:10:11.080" v="40" actId="20577"/>
      <pc:docMkLst>
        <pc:docMk/>
      </pc:docMkLst>
      <pc:sldChg chg="modSp mod">
        <pc:chgData name="Camilo Villaviza" userId="22c251b4f86dcfe4" providerId="LiveId" clId="{A4AC076E-8B82-478F-8FC7-009DE69D5976}" dt="2025-02-24T01:10:11.080" v="40" actId="20577"/>
        <pc:sldMkLst>
          <pc:docMk/>
          <pc:sldMk cId="230670385" sldId="274"/>
        </pc:sldMkLst>
        <pc:spChg chg="mod">
          <ac:chgData name="Camilo Villaviza" userId="22c251b4f86dcfe4" providerId="LiveId" clId="{A4AC076E-8B82-478F-8FC7-009DE69D5976}" dt="2025-02-24T01:10:11.080" v="40" actId="20577"/>
          <ac:spMkLst>
            <pc:docMk/>
            <pc:sldMk cId="230670385" sldId="274"/>
            <ac:spMk id="3" creationId="{1A0AA2C6-97BB-47F8-3B6D-39F18638EA8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A75990-A4A1-4DDE-AA8D-73E60A452DD0}" type="datetimeFigureOut">
              <a:rPr lang="en-US" smtClean="0"/>
              <a:t>3/7/2026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75CD8D-B1D9-4658-A4F0-38CA8D83ED5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980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808C238F-B856-42A4-BC32-194DCC130D5F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C1CB5-A088-4DB4-8A5C-B084F9B2B528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C1328-ADC8-435B-8F5C-D339CD9DD487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56410-64C5-4311-8359-FDA6B61ABBAE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8B01E-6E1B-4AFC-A690-27C447C9486E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2F3D2-503A-4E49-99AD-125A054E178F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66207-223C-48E4-AE22-548ABC801447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41151-B38C-4230-91F0-8A3BB69A056C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6EA29-EE45-46F5-8084-6929433FA14E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2680-3826-48D8-A0B9-F293E3A564DD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0F02A-B435-4587-AE10-6A02865845FD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F27A1-9C29-4918-BA16-87149545F673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EE601-4D27-49FF-B099-2799466F7EDA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52469-603F-4B0F-8F23-6B2B143D5424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781E0-05FC-475E-A14D-85EF9B55E67B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D02C8-8352-4A2E-A3CD-139A8583C932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80581-4B77-41E9-BE55-C3C9C3900A2A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67B94D-50C4-4558-AAA1-857DDB1A21EF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>
            <a:extLst>
              <a:ext uri="{FF2B5EF4-FFF2-40B4-BE49-F238E27FC236}">
                <a16:creationId xmlns:a16="http://schemas.microsoft.com/office/drawing/2014/main" id="{AD579530-1077-46B3-BD5C-81BB270A1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78" name="Rectangle 77">
              <a:extLst>
                <a:ext uri="{FF2B5EF4-FFF2-40B4-BE49-F238E27FC236}">
                  <a16:creationId xmlns:a16="http://schemas.microsoft.com/office/drawing/2014/main" id="{ACBB106A-B366-4349-B59F-E8FBDADD8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9" name="Picture 2">
              <a:extLst>
                <a:ext uri="{FF2B5EF4-FFF2-40B4-BE49-F238E27FC236}">
                  <a16:creationId xmlns:a16="http://schemas.microsoft.com/office/drawing/2014/main" id="{113FC03B-24E4-4A3F-9626-CC7F6356BC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p14="http://schemas.microsoft.com/office/powerpoint/2010/main" xmlns:a14="http://schemas.microsoft.com/office/drawing/2010/main" xmlns:a16="http://schemas.microsoft.com/office/drawing/2014/main" xmlns="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Picture 4" descr="close up of circuit board">
            <a:extLst>
              <a:ext uri="{FF2B5EF4-FFF2-40B4-BE49-F238E27FC236}">
                <a16:creationId xmlns:a16="http://schemas.microsoft.com/office/drawing/2014/main" id="{525AE681-57C0-4C44-9E88-A16CDA016EB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30000"/>
          </a:blip>
          <a:srcRect t="6504" b="9202"/>
          <a:stretch/>
        </p:blipFill>
        <p:spPr>
          <a:xfrm>
            <a:off x="-2" y="10"/>
            <a:ext cx="12188389" cy="6857990"/>
          </a:xfrm>
          <a:prstGeom prst="rect">
            <a:avLst/>
          </a:prstGeom>
        </p:spPr>
      </p:pic>
      <p:grpSp>
        <p:nvGrpSpPr>
          <p:cNvPr id="81" name="Group 80">
            <a:extLst>
              <a:ext uri="{FF2B5EF4-FFF2-40B4-BE49-F238E27FC236}">
                <a16:creationId xmlns:a16="http://schemas.microsoft.com/office/drawing/2014/main" id="{83F79A5F-63B5-4802-B39B-BF0F89DDDA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235200"/>
            <a:ext cx="10982062" cy="2396067"/>
            <a:chOff x="605895" y="2235200"/>
            <a:chExt cx="10982062" cy="2396067"/>
          </a:xfrm>
        </p:grpSpPr>
        <p:sp>
          <p:nvSpPr>
            <p:cNvPr id="82" name="Round Diagonal Corner Rectangle 7">
              <a:extLst>
                <a:ext uri="{FF2B5EF4-FFF2-40B4-BE49-F238E27FC236}">
                  <a16:creationId xmlns:a16="http://schemas.microsoft.com/office/drawing/2014/main" id="{00D14BF7-A799-4EDA-8C19-CED0B8EC5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82333" y="2235200"/>
              <a:ext cx="7027334" cy="2396067"/>
            </a:xfrm>
            <a:prstGeom prst="round2DiagRect">
              <a:avLst>
                <a:gd name="adj1" fmla="val 9246"/>
                <a:gd name="adj2" fmla="val 0"/>
              </a:avLst>
            </a:prstGeom>
            <a:solidFill>
              <a:schemeClr val="bg1">
                <a:alpha val="80000"/>
              </a:schemeClr>
            </a:solidFill>
            <a:ln w="19050" cap="sq">
              <a:solidFill>
                <a:schemeClr val="tx2">
                  <a:alpha val="60000"/>
                </a:schemeClr>
              </a:solidFill>
              <a:miter lim="800000"/>
            </a:ln>
            <a:effectLst>
              <a:outerShdw blurRad="889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AF292344-73C8-4E53-85C0-8CDB23EB53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5895" y="2900097"/>
              <a:ext cx="10982062" cy="1211524"/>
              <a:chOff x="605895" y="2900097"/>
              <a:chExt cx="10982062" cy="1211524"/>
            </a:xfrm>
          </p:grpSpPr>
          <p:sp>
            <p:nvSpPr>
              <p:cNvPr id="84" name="Freeform 32">
                <a:extLst>
                  <a:ext uri="{FF2B5EF4-FFF2-40B4-BE49-F238E27FC236}">
                    <a16:creationId xmlns:a16="http://schemas.microsoft.com/office/drawing/2014/main" id="{4781E776-A0A7-4FB6-958B-8389BBA569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9653587" y="33797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85" name="Freeform 33">
                <a:extLst>
                  <a:ext uri="{FF2B5EF4-FFF2-40B4-BE49-F238E27FC236}">
                    <a16:creationId xmlns:a16="http://schemas.microsoft.com/office/drawing/2014/main" id="{0F004D56-F177-45BC-8965-B72DB88A08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078244" y="33107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86" name="Freeform 34">
                <a:extLst>
                  <a:ext uri="{FF2B5EF4-FFF2-40B4-BE49-F238E27FC236}">
                    <a16:creationId xmlns:a16="http://schemas.microsoft.com/office/drawing/2014/main" id="{5F2F1F83-817B-4678-B0AE-8FFDC49FC8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1146631" y="35742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87" name="Freeform 37">
                <a:extLst>
                  <a:ext uri="{FF2B5EF4-FFF2-40B4-BE49-F238E27FC236}">
                    <a16:creationId xmlns:a16="http://schemas.microsoft.com/office/drawing/2014/main" id="{F908EB47-32F4-4E82-BF56-FD25BB0747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230644" y="30345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88" name="Freeform 35">
                <a:extLst>
                  <a:ext uri="{FF2B5EF4-FFF2-40B4-BE49-F238E27FC236}">
                    <a16:creationId xmlns:a16="http://schemas.microsoft.com/office/drawing/2014/main" id="{0966000D-B975-4E8A-9BF2-EACF216405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034587" y="25627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89" name="Freeform 36">
                <a:extLst>
                  <a:ext uri="{FF2B5EF4-FFF2-40B4-BE49-F238E27FC236}">
                    <a16:creationId xmlns:a16="http://schemas.microsoft.com/office/drawing/2014/main" id="{A9554499-6796-4AEE-B012-34A5B9A585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747375" y="32326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90" name="Freeform 38">
                <a:extLst>
                  <a:ext uri="{FF2B5EF4-FFF2-40B4-BE49-F238E27FC236}">
                    <a16:creationId xmlns:a16="http://schemas.microsoft.com/office/drawing/2014/main" id="{9DD40864-34BD-491F-B591-180E7B32C1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1399044" y="30953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91" name="Freeform 39">
                <a:extLst>
                  <a:ext uri="{FF2B5EF4-FFF2-40B4-BE49-F238E27FC236}">
                    <a16:creationId xmlns:a16="http://schemas.microsoft.com/office/drawing/2014/main" id="{2623F54C-4373-4D30-90DB-3129BDDF54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353675" y="21531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92" name="Freeform 40">
                <a:extLst>
                  <a:ext uri="{FF2B5EF4-FFF2-40B4-BE49-F238E27FC236}">
                    <a16:creationId xmlns:a16="http://schemas.microsoft.com/office/drawing/2014/main" id="{1FF42884-D4B2-462F-9FA7-4FA8925322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848850" y="33088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93" name="Rectangle 41">
                <a:extLst>
                  <a:ext uri="{FF2B5EF4-FFF2-40B4-BE49-F238E27FC236}">
                    <a16:creationId xmlns:a16="http://schemas.microsoft.com/office/drawing/2014/main" id="{27F4D4BA-37F5-4D54-BDFF-733F621D5D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721056" y="32842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94" name="Freeform 32">
                <a:extLst>
                  <a:ext uri="{FF2B5EF4-FFF2-40B4-BE49-F238E27FC236}">
                    <a16:creationId xmlns:a16="http://schemas.microsoft.com/office/drawing/2014/main" id="{29E4A0E5-0441-4563-A947-12A5781105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2122751" y="35321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95" name="Freeform 33">
                <a:extLst>
                  <a:ext uri="{FF2B5EF4-FFF2-40B4-BE49-F238E27FC236}">
                    <a16:creationId xmlns:a16="http://schemas.microsoft.com/office/drawing/2014/main" id="{4A8D89B4-AD1B-410A-870B-1042E075A0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958445" y="34631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96" name="Freeform 34">
                <a:extLst>
                  <a:ext uri="{FF2B5EF4-FFF2-40B4-BE49-F238E27FC236}">
                    <a16:creationId xmlns:a16="http://schemas.microsoft.com/office/drawing/2014/main" id="{DFC54570-9F45-44E6-AC94-4B3192D44B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858308" y="37266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97" name="Freeform 37">
                <a:extLst>
                  <a:ext uri="{FF2B5EF4-FFF2-40B4-BE49-F238E27FC236}">
                    <a16:creationId xmlns:a16="http://schemas.microsoft.com/office/drawing/2014/main" id="{A976F76C-4BBB-4CD4-9270-5E4E8802BF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658407" y="31869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98" name="Freeform 35">
                <a:extLst>
                  <a:ext uri="{FF2B5EF4-FFF2-40B4-BE49-F238E27FC236}">
                    <a16:creationId xmlns:a16="http://schemas.microsoft.com/office/drawing/2014/main" id="{06081E5F-35E2-4E9E-A0DA-9E2F769C4C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860814" y="27151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99" name="Freeform 36">
                <a:extLst>
                  <a:ext uri="{FF2B5EF4-FFF2-40B4-BE49-F238E27FC236}">
                    <a16:creationId xmlns:a16="http://schemas.microsoft.com/office/drawing/2014/main" id="{7B7B4F78-1391-433D-AAE5-0FA8B8EE18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289314" y="33850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100" name="Freeform 38">
                <a:extLst>
                  <a:ext uri="{FF2B5EF4-FFF2-40B4-BE49-F238E27FC236}">
                    <a16:creationId xmlns:a16="http://schemas.microsoft.com/office/drawing/2014/main" id="{EF63F42B-29ED-4285-99D1-5FA657DA92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605895" y="32477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101" name="Freeform 39">
                <a:extLst>
                  <a:ext uri="{FF2B5EF4-FFF2-40B4-BE49-F238E27FC236}">
                    <a16:creationId xmlns:a16="http://schemas.microsoft.com/office/drawing/2014/main" id="{EB7A6053-A7CF-4785-B396-6F70D6EBE9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532202" y="23055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102" name="Freeform 40">
                <a:extLst>
                  <a:ext uri="{FF2B5EF4-FFF2-40B4-BE49-F238E27FC236}">
                    <a16:creationId xmlns:a16="http://schemas.microsoft.com/office/drawing/2014/main" id="{E6337518-A10D-47A5-BD86-6D1F3FAF3C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154501" y="34612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103" name="Rectangle 41">
                <a:extLst>
                  <a:ext uri="{FF2B5EF4-FFF2-40B4-BE49-F238E27FC236}">
                    <a16:creationId xmlns:a16="http://schemas.microsoft.com/office/drawing/2014/main" id="{7591C37F-6498-4992-992D-D413A84752D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448983" y="34366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PH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D476017-D224-40AE-B921-6752545015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7000" y="2328334"/>
            <a:ext cx="6858000" cy="136789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Web systems vulnerabilities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F013D4-CBD9-4FC1-AF91-2301A70448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1" y="3602038"/>
            <a:ext cx="6857999" cy="953029"/>
          </a:xfrm>
        </p:spPr>
        <p:txBody>
          <a:bodyPr>
            <a:normAutofit/>
          </a:bodyPr>
          <a:lstStyle/>
          <a:p>
            <a:pPr algn="ctr"/>
            <a:br>
              <a:rPr lang="en-US" dirty="0"/>
            </a:br>
            <a:r>
              <a:rPr lang="en-PH" dirty="0"/>
              <a:t>WEB VULNERABILITIES AND COUNTERMEASURES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7192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83ECE-7B1D-D892-1E88-E135EF191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err="1">
                <a:solidFill>
                  <a:schemeClr val="bg1"/>
                </a:solidFill>
              </a:rPr>
              <a:t>sql</a:t>
            </a:r>
            <a:r>
              <a:rPr lang="en-PH" dirty="0">
                <a:solidFill>
                  <a:schemeClr val="bg1"/>
                </a:solidFill>
              </a:rPr>
              <a:t> injection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2924A-A786-2376-26B9-566BE482E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solidFill>
                  <a:schemeClr val="bg1"/>
                </a:solidFill>
              </a:rPr>
              <a:t>SQL injection is a code injection technique used to target data-driven applications, where malicious SQL statements are inserted into a data entry field for execution.</a:t>
            </a:r>
          </a:p>
          <a:p>
            <a:pPr marL="0" indent="0">
              <a:buNone/>
            </a:pPr>
            <a:endParaRPr lang="en-US" sz="3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PH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3922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C7801-BEF7-91C7-400E-6EC8AD778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How to Prevent SQL Injection</a:t>
            </a:r>
            <a:endParaRPr lang="en-PH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213B3-95B1-F133-C837-E3E79EC38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• Parameterized Statements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• Object Relational Mapping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• Escaping Inputs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• Sanitizing Inputs</a:t>
            </a:r>
            <a:endParaRPr lang="en-PH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510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36A0E-F6D2-B10B-C8D0-45AB1EAB1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Cross-site scripting (XSS)</a:t>
            </a:r>
            <a:endParaRPr lang="en-PH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42AE8-7F6E-928B-11DE-C05BD401B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097088"/>
            <a:ext cx="9905999" cy="35417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chemeClr val="bg1"/>
                </a:solidFill>
              </a:rPr>
              <a:t>Cross-site scripting (XSS) is a type of vulnerability which is usually found in web applications. XSS helps attackers to inject scripts client-side to web pages accessed by other users</a:t>
            </a:r>
            <a:endParaRPr lang="en-PH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252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C4E51-4739-D3C7-61BC-94705530B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How to Prevent Cross-Site Scripting</a:t>
            </a:r>
            <a:endParaRPr lang="en-PH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AA2C6-97BB-47F8-3B6D-39F18638E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• Keep Software Updated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• Sanitize Input Fields ( </a:t>
            </a:r>
            <a:r>
              <a:rPr lang="fr-FR" dirty="0" err="1">
                <a:solidFill>
                  <a:schemeClr val="bg1"/>
                </a:solidFill>
              </a:rPr>
              <a:t>htmlspecialchars</a:t>
            </a:r>
            <a:r>
              <a:rPr lang="fr-FR" dirty="0">
                <a:solidFill>
                  <a:schemeClr val="bg1"/>
                </a:solidFill>
              </a:rPr>
              <a:t>(</a:t>
            </a:r>
            <a:r>
              <a:rPr lang="fr-FR" dirty="0" err="1">
                <a:solidFill>
                  <a:schemeClr val="bg1"/>
                </a:solidFill>
              </a:rPr>
              <a:t>variable_name</a:t>
            </a:r>
            <a:r>
              <a:rPr lang="fr-FR" dirty="0">
                <a:solidFill>
                  <a:schemeClr val="bg1"/>
                </a:solidFill>
              </a:rPr>
              <a:t>, ENT_QUOTES, 'UTF-8’) 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• Use Client and Server-Side Form Validation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• Use a Web Application Firewall</a:t>
            </a:r>
            <a:endParaRPr lang="en-PH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670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83ECE-7B1D-D892-1E88-E135EF191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1"/>
                </a:solidFill>
              </a:rPr>
              <a:t>CROSS-SITE REQUEST FORGERY</a:t>
            </a:r>
            <a:endParaRPr lang="en-PH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2924A-A786-2376-26B9-566BE482E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Cross-Site Request Forgery (CSRF) is an attack that causes an end-user to perform unauthorized actions on a web application that they are currently authenticated to. CSRF attacks primarily target state-changing requests, not data theft, because the attacker has no means of knowing the answer to the request fabricated.</a:t>
            </a:r>
            <a:endParaRPr lang="en-PH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8206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C7801-BEF7-91C7-400E-6EC8AD778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How to Prevent </a:t>
            </a:r>
            <a:r>
              <a:rPr lang="en-US" dirty="0" err="1">
                <a:solidFill>
                  <a:schemeClr val="bg1"/>
                </a:solidFill>
              </a:rPr>
              <a:t>Csrf</a:t>
            </a:r>
            <a:endParaRPr lang="en-PH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213B3-95B1-F133-C837-E3E79EC38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12163"/>
            <a:ext cx="9905999" cy="354171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• REST (Representation State Transfer)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• Anti-Forgery Tokens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• Ensure Cookies are sent with the </a:t>
            </a:r>
            <a:r>
              <a:rPr lang="en-US" dirty="0" err="1">
                <a:solidFill>
                  <a:schemeClr val="bg1"/>
                </a:solidFill>
              </a:rPr>
              <a:t>SameSite</a:t>
            </a:r>
            <a:r>
              <a:rPr lang="en-US" dirty="0">
                <a:solidFill>
                  <a:schemeClr val="bg1"/>
                </a:solidFill>
              </a:rPr>
              <a:t> Cookie Attribute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• Include Addition Authentication for Sensitive Actions</a:t>
            </a:r>
            <a:endParaRPr lang="en-PH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84446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C41CBB0-BAA0-4983-8F2B-E10AF3358DA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104C6BCC-A38B-4625-90E6-7D3BBA3909A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096F0E7-E7B5-406E-8E94-F0043B2AC7F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Circuit design</Template>
  <TotalTime>367</TotalTime>
  <Words>225</Words>
  <Application>Microsoft Office PowerPoint</Application>
  <PresentationFormat>Widescreen</PresentationFormat>
  <Paragraphs>23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Tw Cen MT</vt:lpstr>
      <vt:lpstr>Circuit</vt:lpstr>
      <vt:lpstr>Web systems vulnerabilities</vt:lpstr>
      <vt:lpstr>sql injection</vt:lpstr>
      <vt:lpstr>How to Prevent SQL Injection</vt:lpstr>
      <vt:lpstr>Cross-site scripting (XSS)</vt:lpstr>
      <vt:lpstr>How to Prevent Cross-Site Scripting</vt:lpstr>
      <vt:lpstr>CROSS-SITE REQUEST FORGERY</vt:lpstr>
      <vt:lpstr>How to Prevent Csrf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systems vulnerabilities</dc:title>
  <dc:creator>Camilo Villaviza</dc:creator>
  <cp:lastModifiedBy>Camilo Villaviza</cp:lastModifiedBy>
  <cp:revision>9</cp:revision>
  <dcterms:created xsi:type="dcterms:W3CDTF">2024-02-02T23:15:24Z</dcterms:created>
  <dcterms:modified xsi:type="dcterms:W3CDTF">2026-03-07T04:57:24Z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